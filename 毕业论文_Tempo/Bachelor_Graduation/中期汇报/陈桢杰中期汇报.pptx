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6858000" cy="9144000"/>
  <p:embeddedFontLst>
    <p:embeddedFont>
      <p:font typeface="字由点字典黑 Bold" panose="00020600040101010101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1.svg"/><Relationship Id="rId11" Type="http://schemas.openxmlformats.org/officeDocument/2006/relationships/image" Target="../media/image40.png"/><Relationship Id="rId10" Type="http://schemas.openxmlformats.org/officeDocument/2006/relationships/image" Target="../media/image20.sv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6273" y="3367328"/>
            <a:ext cx="863545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面向下一代投资者的投资账本软件设计与实现</a:t>
            </a:r>
            <a:endParaRPr lang="en-US" sz="3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743950" y="6607878"/>
            <a:ext cx="800100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陈桢杰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08800" y="5895340"/>
            <a:ext cx="4801235" cy="394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指导老师：郑晓晨老师、萧若薇老师</a:t>
            </a:r>
            <a:endParaRPr lang="en-US" sz="22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89621">
            <a:off x="-669353" y="7756364"/>
            <a:ext cx="7843513" cy="1875049"/>
          </a:xfrm>
          <a:custGeom>
            <a:avLst/>
            <a:gdLst/>
            <a:ahLst/>
            <a:cxnLst/>
            <a:rect l="l" t="t" r="r" b="b"/>
            <a:pathLst>
              <a:path w="7843513" h="1875049">
                <a:moveTo>
                  <a:pt x="0" y="0"/>
                </a:moveTo>
                <a:lnTo>
                  <a:pt x="7843513" y="0"/>
                </a:lnTo>
                <a:lnTo>
                  <a:pt x="7843513" y="1875049"/>
                </a:lnTo>
                <a:lnTo>
                  <a:pt x="0" y="187504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9203" y="371370"/>
            <a:ext cx="27432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课题背景和涉及领域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1642164" y="1851354"/>
            <a:ext cx="9587868" cy="477278"/>
            <a:chOff x="0" y="0"/>
            <a:chExt cx="12783825" cy="636371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0" y="0"/>
              <a:ext cx="636371" cy="636371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10137" y="0"/>
                    </a:moveTo>
                    <a:lnTo>
                      <a:pt x="302663" y="0"/>
                    </a:lnTo>
                    <a:cubicBezTo>
                      <a:pt x="275787" y="0"/>
                      <a:pt x="254000" y="21787"/>
                      <a:pt x="254000" y="48663"/>
                    </a:cubicBezTo>
                    <a:lnTo>
                      <a:pt x="254000" y="205337"/>
                    </a:lnTo>
                    <a:cubicBezTo>
                      <a:pt x="254000" y="232213"/>
                      <a:pt x="232213" y="254000"/>
                      <a:pt x="205337" y="254000"/>
                    </a:cubicBezTo>
                    <a:lnTo>
                      <a:pt x="48663" y="254000"/>
                    </a:lnTo>
                    <a:cubicBezTo>
                      <a:pt x="21787" y="254000"/>
                      <a:pt x="0" y="275787"/>
                      <a:pt x="0" y="302663"/>
                    </a:cubicBezTo>
                    <a:lnTo>
                      <a:pt x="0" y="510137"/>
                    </a:lnTo>
                    <a:cubicBezTo>
                      <a:pt x="0" y="537013"/>
                      <a:pt x="21787" y="558800"/>
                      <a:pt x="48663" y="558800"/>
                    </a:cubicBezTo>
                    <a:lnTo>
                      <a:pt x="205337" y="558800"/>
                    </a:lnTo>
                    <a:cubicBezTo>
                      <a:pt x="232213" y="558800"/>
                      <a:pt x="254000" y="580587"/>
                      <a:pt x="254000" y="607463"/>
                    </a:cubicBezTo>
                    <a:lnTo>
                      <a:pt x="254000" y="764137"/>
                    </a:lnTo>
                    <a:cubicBezTo>
                      <a:pt x="254000" y="791013"/>
                      <a:pt x="275787" y="812800"/>
                      <a:pt x="302663" y="812800"/>
                    </a:cubicBezTo>
                    <a:lnTo>
                      <a:pt x="510137" y="812800"/>
                    </a:lnTo>
                    <a:cubicBezTo>
                      <a:pt x="537013" y="812800"/>
                      <a:pt x="558800" y="791013"/>
                      <a:pt x="558800" y="764137"/>
                    </a:cubicBezTo>
                    <a:lnTo>
                      <a:pt x="558800" y="607463"/>
                    </a:lnTo>
                    <a:cubicBezTo>
                      <a:pt x="558800" y="580587"/>
                      <a:pt x="580587" y="558800"/>
                      <a:pt x="607463" y="558800"/>
                    </a:cubicBezTo>
                    <a:lnTo>
                      <a:pt x="764137" y="558800"/>
                    </a:lnTo>
                    <a:cubicBezTo>
                      <a:pt x="791013" y="558800"/>
                      <a:pt x="812800" y="537013"/>
                      <a:pt x="812800" y="510137"/>
                    </a:cubicBezTo>
                    <a:lnTo>
                      <a:pt x="812800" y="302663"/>
                    </a:lnTo>
                    <a:cubicBezTo>
                      <a:pt x="812800" y="275787"/>
                      <a:pt x="791013" y="254000"/>
                      <a:pt x="764137" y="254000"/>
                    </a:cubicBezTo>
                    <a:lnTo>
                      <a:pt x="607463" y="254000"/>
                    </a:lnTo>
                    <a:cubicBezTo>
                      <a:pt x="580587" y="254000"/>
                      <a:pt x="558800" y="232213"/>
                      <a:pt x="558800" y="205337"/>
                    </a:cubicBezTo>
                    <a:lnTo>
                      <a:pt x="558800" y="48663"/>
                    </a:lnTo>
                    <a:cubicBezTo>
                      <a:pt x="558800" y="21787"/>
                      <a:pt x="537013" y="0"/>
                      <a:pt x="510137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039191" y="72919"/>
              <a:ext cx="11744634" cy="452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0"/>
                </a:lnSpc>
                <a:spcBef>
                  <a:spcPct val="0"/>
                </a:spcBef>
              </a:pPr>
              <a:r>
                <a:rPr lang="en-US" sz="2050">
                  <a:solidFill>
                    <a:srgbClr val="000000"/>
                  </a:solidFill>
                  <a:latin typeface="字由点字典黑" panose="00020600040101010101" charset="-122"/>
                  <a:ea typeface="字由点字典黑" panose="00020600040101010101" charset="-122"/>
                  <a:cs typeface="字由点字典黑" panose="00020600040101010101" charset="-122"/>
                  <a:sym typeface="字由点字典黑" panose="00020600040101010101" charset="-122"/>
                </a:rPr>
                <a:t>城镇化进程基本完成、资本市场将逐步取代房地产市场成为新</a:t>
              </a:r>
              <a:r>
                <a:rPr lang="en-US" sz="2050">
                  <a:solidFill>
                    <a:srgbClr val="000000"/>
                  </a:solidFill>
                  <a:latin typeface="字由点字典黑" panose="00020600040101010101" charset="-122"/>
                  <a:ea typeface="字由点字典黑" panose="00020600040101010101" charset="-122"/>
                  <a:cs typeface="字由点字典黑" panose="00020600040101010101" charset="-122"/>
                  <a:sym typeface="字由点字典黑" panose="00020600040101010101" charset="-122"/>
                </a:rPr>
                <a:t>的经济"蓄水池"</a:t>
              </a:r>
              <a:endParaRPr lang="en-US" sz="205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642164" y="3613673"/>
            <a:ext cx="8334167" cy="477278"/>
            <a:chOff x="0" y="0"/>
            <a:chExt cx="11112222" cy="636371"/>
          </a:xfrm>
        </p:grpSpPr>
        <p:grpSp>
          <p:nvGrpSpPr>
            <p:cNvPr id="10" name="Group 10"/>
            <p:cNvGrpSpPr/>
            <p:nvPr/>
          </p:nvGrpSpPr>
          <p:grpSpPr>
            <a:xfrm rot="0">
              <a:off x="0" y="0"/>
              <a:ext cx="636371" cy="636371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10137" y="0"/>
                    </a:moveTo>
                    <a:lnTo>
                      <a:pt x="302663" y="0"/>
                    </a:lnTo>
                    <a:cubicBezTo>
                      <a:pt x="275787" y="0"/>
                      <a:pt x="254000" y="21787"/>
                      <a:pt x="254000" y="48663"/>
                    </a:cubicBezTo>
                    <a:lnTo>
                      <a:pt x="254000" y="205337"/>
                    </a:lnTo>
                    <a:cubicBezTo>
                      <a:pt x="254000" y="232213"/>
                      <a:pt x="232213" y="254000"/>
                      <a:pt x="205337" y="254000"/>
                    </a:cubicBezTo>
                    <a:lnTo>
                      <a:pt x="48663" y="254000"/>
                    </a:lnTo>
                    <a:cubicBezTo>
                      <a:pt x="21787" y="254000"/>
                      <a:pt x="0" y="275787"/>
                      <a:pt x="0" y="302663"/>
                    </a:cubicBezTo>
                    <a:lnTo>
                      <a:pt x="0" y="510137"/>
                    </a:lnTo>
                    <a:cubicBezTo>
                      <a:pt x="0" y="537013"/>
                      <a:pt x="21787" y="558800"/>
                      <a:pt x="48663" y="558800"/>
                    </a:cubicBezTo>
                    <a:lnTo>
                      <a:pt x="205337" y="558800"/>
                    </a:lnTo>
                    <a:cubicBezTo>
                      <a:pt x="232213" y="558800"/>
                      <a:pt x="254000" y="580587"/>
                      <a:pt x="254000" y="607463"/>
                    </a:cubicBezTo>
                    <a:lnTo>
                      <a:pt x="254000" y="764137"/>
                    </a:lnTo>
                    <a:cubicBezTo>
                      <a:pt x="254000" y="791013"/>
                      <a:pt x="275787" y="812800"/>
                      <a:pt x="302663" y="812800"/>
                    </a:cubicBezTo>
                    <a:lnTo>
                      <a:pt x="510137" y="812800"/>
                    </a:lnTo>
                    <a:cubicBezTo>
                      <a:pt x="537013" y="812800"/>
                      <a:pt x="558800" y="791013"/>
                      <a:pt x="558800" y="764137"/>
                    </a:cubicBezTo>
                    <a:lnTo>
                      <a:pt x="558800" y="607463"/>
                    </a:lnTo>
                    <a:cubicBezTo>
                      <a:pt x="558800" y="580587"/>
                      <a:pt x="580587" y="558800"/>
                      <a:pt x="607463" y="558800"/>
                    </a:cubicBezTo>
                    <a:lnTo>
                      <a:pt x="764137" y="558800"/>
                    </a:lnTo>
                    <a:cubicBezTo>
                      <a:pt x="791013" y="558800"/>
                      <a:pt x="812800" y="537013"/>
                      <a:pt x="812800" y="510137"/>
                    </a:cubicBezTo>
                    <a:lnTo>
                      <a:pt x="812800" y="302663"/>
                    </a:lnTo>
                    <a:cubicBezTo>
                      <a:pt x="812800" y="275787"/>
                      <a:pt x="791013" y="254000"/>
                      <a:pt x="764137" y="254000"/>
                    </a:cubicBezTo>
                    <a:lnTo>
                      <a:pt x="607463" y="254000"/>
                    </a:lnTo>
                    <a:cubicBezTo>
                      <a:pt x="580587" y="254000"/>
                      <a:pt x="558800" y="232213"/>
                      <a:pt x="558800" y="205337"/>
                    </a:cubicBezTo>
                    <a:lnTo>
                      <a:pt x="558800" y="48663"/>
                    </a:lnTo>
                    <a:cubicBezTo>
                      <a:pt x="558800" y="21787"/>
                      <a:pt x="537013" y="0"/>
                      <a:pt x="510137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039191" y="72919"/>
              <a:ext cx="10073031" cy="452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0"/>
                </a:lnSpc>
                <a:spcBef>
                  <a:spcPct val="0"/>
                </a:spcBef>
              </a:pPr>
              <a:r>
                <a:rPr lang="en-US" sz="2050">
                  <a:solidFill>
                    <a:srgbClr val="000000"/>
                  </a:solidFill>
                  <a:latin typeface="字由点字典黑" panose="00020600040101010101" charset="-122"/>
                  <a:ea typeface="字由点字典黑" panose="00020600040101010101" charset="-122"/>
                  <a:cs typeface="字由点字典黑" panose="00020600040101010101" charset="-122"/>
                  <a:sym typeface="字由点字典黑" panose="00020600040101010101" charset="-122"/>
                </a:rPr>
                <a:t>科技创新拉动的高质量增长，由“人口红利”转向“工程师红利”</a:t>
              </a:r>
              <a:endParaRPr lang="en-US" sz="205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642164" y="5375992"/>
            <a:ext cx="13544382" cy="671797"/>
            <a:chOff x="0" y="0"/>
            <a:chExt cx="18059175" cy="895730"/>
          </a:xfrm>
        </p:grpSpPr>
        <p:grpSp>
          <p:nvGrpSpPr>
            <p:cNvPr id="15" name="Group 15"/>
            <p:cNvGrpSpPr/>
            <p:nvPr/>
          </p:nvGrpSpPr>
          <p:grpSpPr>
            <a:xfrm rot="0">
              <a:off x="0" y="0"/>
              <a:ext cx="636371" cy="636371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10137" y="0"/>
                    </a:moveTo>
                    <a:lnTo>
                      <a:pt x="302663" y="0"/>
                    </a:lnTo>
                    <a:cubicBezTo>
                      <a:pt x="275787" y="0"/>
                      <a:pt x="254000" y="21787"/>
                      <a:pt x="254000" y="48663"/>
                    </a:cubicBezTo>
                    <a:lnTo>
                      <a:pt x="254000" y="205337"/>
                    </a:lnTo>
                    <a:cubicBezTo>
                      <a:pt x="254000" y="232213"/>
                      <a:pt x="232213" y="254000"/>
                      <a:pt x="205337" y="254000"/>
                    </a:cubicBezTo>
                    <a:lnTo>
                      <a:pt x="48663" y="254000"/>
                    </a:lnTo>
                    <a:cubicBezTo>
                      <a:pt x="21787" y="254000"/>
                      <a:pt x="0" y="275787"/>
                      <a:pt x="0" y="302663"/>
                    </a:cubicBezTo>
                    <a:lnTo>
                      <a:pt x="0" y="510137"/>
                    </a:lnTo>
                    <a:cubicBezTo>
                      <a:pt x="0" y="537013"/>
                      <a:pt x="21787" y="558800"/>
                      <a:pt x="48663" y="558800"/>
                    </a:cubicBezTo>
                    <a:lnTo>
                      <a:pt x="205337" y="558800"/>
                    </a:lnTo>
                    <a:cubicBezTo>
                      <a:pt x="232213" y="558800"/>
                      <a:pt x="254000" y="580587"/>
                      <a:pt x="254000" y="607463"/>
                    </a:cubicBezTo>
                    <a:lnTo>
                      <a:pt x="254000" y="764137"/>
                    </a:lnTo>
                    <a:cubicBezTo>
                      <a:pt x="254000" y="791013"/>
                      <a:pt x="275787" y="812800"/>
                      <a:pt x="302663" y="812800"/>
                    </a:cubicBezTo>
                    <a:lnTo>
                      <a:pt x="510137" y="812800"/>
                    </a:lnTo>
                    <a:cubicBezTo>
                      <a:pt x="537013" y="812800"/>
                      <a:pt x="558800" y="791013"/>
                      <a:pt x="558800" y="764137"/>
                    </a:cubicBezTo>
                    <a:lnTo>
                      <a:pt x="558800" y="607463"/>
                    </a:lnTo>
                    <a:cubicBezTo>
                      <a:pt x="558800" y="580587"/>
                      <a:pt x="580587" y="558800"/>
                      <a:pt x="607463" y="558800"/>
                    </a:cubicBezTo>
                    <a:lnTo>
                      <a:pt x="764137" y="558800"/>
                    </a:lnTo>
                    <a:cubicBezTo>
                      <a:pt x="791013" y="558800"/>
                      <a:pt x="812800" y="537013"/>
                      <a:pt x="812800" y="510137"/>
                    </a:cubicBezTo>
                    <a:lnTo>
                      <a:pt x="812800" y="302663"/>
                    </a:lnTo>
                    <a:cubicBezTo>
                      <a:pt x="812800" y="275787"/>
                      <a:pt x="791013" y="254000"/>
                      <a:pt x="764137" y="254000"/>
                    </a:cubicBezTo>
                    <a:lnTo>
                      <a:pt x="607463" y="254000"/>
                    </a:lnTo>
                    <a:cubicBezTo>
                      <a:pt x="580587" y="254000"/>
                      <a:pt x="558800" y="232213"/>
                      <a:pt x="558800" y="205337"/>
                    </a:cubicBezTo>
                    <a:lnTo>
                      <a:pt x="558800" y="48663"/>
                    </a:lnTo>
                    <a:cubicBezTo>
                      <a:pt x="558800" y="21787"/>
                      <a:pt x="537013" y="0"/>
                      <a:pt x="510137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039191" y="-38100"/>
              <a:ext cx="17019984" cy="933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0"/>
                </a:lnSpc>
              </a:pPr>
              <a:r>
                <a:rPr lang="en-US" sz="2050">
                  <a:solidFill>
                    <a:srgbClr val="000000"/>
                  </a:solidFill>
                  <a:latin typeface="字由点字典黑" panose="00020600040101010101" charset="-122"/>
                  <a:ea typeface="字由点字典黑" panose="00020600040101010101" charset="-122"/>
                  <a:cs typeface="字由点字典黑" panose="00020600040101010101" charset="-122"/>
                  <a:sym typeface="字由点字典黑" panose="00020600040101010101" charset="-122"/>
                </a:rPr>
                <a:t>过去国内金融市场发展、建设的不完善、不健全，给一代人留下的投资观念是广泛的、深刻的</a:t>
              </a:r>
              <a:endParaRPr lang="en-US" sz="205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endParaRPr>
            </a:p>
            <a:p>
              <a:pPr algn="l">
                <a:lnSpc>
                  <a:spcPts val="2870"/>
                </a:lnSpc>
                <a:spcBef>
                  <a:spcPct val="0"/>
                </a:spcBef>
              </a:pPr>
              <a:r>
                <a:rPr lang="en-US" sz="2050">
                  <a:solidFill>
                    <a:srgbClr val="000000"/>
                  </a:solidFill>
                  <a:latin typeface="字由点字典黑" panose="00020600040101010101" charset="-122"/>
                  <a:ea typeface="字由点字典黑" panose="00020600040101010101" charset="-122"/>
                  <a:cs typeface="字由点字典黑" panose="00020600040101010101" charset="-122"/>
                  <a:sym typeface="字由点字典黑" panose="00020600040101010101" charset="-122"/>
                </a:rPr>
                <a:t>但在产业结构、经济增长模式的转向的当下，市场机制、监管机制的规范与完善是下一阶段经济增长的必然要求</a:t>
              </a:r>
              <a:endParaRPr lang="en-US" sz="205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163172" y="7114997"/>
            <a:ext cx="3961656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7386A3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大众参与市场的积极性提高</a:t>
            </a:r>
            <a:endParaRPr lang="en-US" sz="2600">
              <a:solidFill>
                <a:srgbClr val="7386A3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352640" y="9731275"/>
            <a:ext cx="1813319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背景回顾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68517" y="1777991"/>
            <a:ext cx="1600200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专业术语繁多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327408" y="1777991"/>
            <a:ext cx="1600200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操作逻辑复杂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43026" y="1777991"/>
            <a:ext cx="1600200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数据眼花缭乱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473421" y="2921004"/>
            <a:ext cx="3086100" cy="6534883"/>
            <a:chOff x="0" y="0"/>
            <a:chExt cx="812800" cy="17211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721121"/>
            </a:xfrm>
            <a:custGeom>
              <a:avLst/>
              <a:gdLst/>
              <a:ahLst/>
              <a:cxnLst/>
              <a:rect l="l" t="t" r="r" b="b"/>
              <a:pathLst>
                <a:path w="812800" h="1721121">
                  <a:moveTo>
                    <a:pt x="0" y="0"/>
                  </a:moveTo>
                  <a:lnTo>
                    <a:pt x="812800" y="0"/>
                  </a:lnTo>
                  <a:lnTo>
                    <a:pt x="812800" y="1721121"/>
                  </a:lnTo>
                  <a:lnTo>
                    <a:pt x="0" y="1721121"/>
                  </a:lnTo>
                  <a:close/>
                </a:path>
              </a:pathLst>
            </a:custGeom>
            <a:ln w="47625" cap="sq">
              <a:solidFill>
                <a:srgbClr val="000000">
                  <a:alpha val="13725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1768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621913" y="3009967"/>
            <a:ext cx="2789115" cy="6356958"/>
          </a:xfrm>
          <a:custGeom>
            <a:avLst/>
            <a:gdLst/>
            <a:ahLst/>
            <a:cxnLst/>
            <a:rect l="l" t="t" r="r" b="b"/>
            <a:pathLst>
              <a:path w="2789115" h="6356958">
                <a:moveTo>
                  <a:pt x="0" y="0"/>
                </a:moveTo>
                <a:lnTo>
                  <a:pt x="2789115" y="0"/>
                </a:lnTo>
                <a:lnTo>
                  <a:pt x="278911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74059" y="3009967"/>
            <a:ext cx="2789115" cy="6356958"/>
          </a:xfrm>
          <a:custGeom>
            <a:avLst/>
            <a:gdLst/>
            <a:ahLst/>
            <a:cxnLst/>
            <a:rect l="l" t="t" r="r" b="b"/>
            <a:pathLst>
              <a:path w="2789115" h="6356958">
                <a:moveTo>
                  <a:pt x="0" y="0"/>
                </a:moveTo>
                <a:lnTo>
                  <a:pt x="2789116" y="0"/>
                </a:lnTo>
                <a:lnTo>
                  <a:pt x="278911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732951" y="3098929"/>
            <a:ext cx="2789115" cy="6356958"/>
          </a:xfrm>
          <a:custGeom>
            <a:avLst/>
            <a:gdLst/>
            <a:ahLst/>
            <a:cxnLst/>
            <a:rect l="l" t="t" r="r" b="b"/>
            <a:pathLst>
              <a:path w="2789115" h="6356958">
                <a:moveTo>
                  <a:pt x="0" y="0"/>
                </a:moveTo>
                <a:lnTo>
                  <a:pt x="2789115" y="0"/>
                </a:lnTo>
                <a:lnTo>
                  <a:pt x="278911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0">
            <a:off x="7225567" y="3009967"/>
            <a:ext cx="3086100" cy="6534883"/>
            <a:chOff x="0" y="0"/>
            <a:chExt cx="812800" cy="17211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721121"/>
            </a:xfrm>
            <a:custGeom>
              <a:avLst/>
              <a:gdLst/>
              <a:ahLst/>
              <a:cxnLst/>
              <a:rect l="l" t="t" r="r" b="b"/>
              <a:pathLst>
                <a:path w="812800" h="1721121">
                  <a:moveTo>
                    <a:pt x="0" y="0"/>
                  </a:moveTo>
                  <a:lnTo>
                    <a:pt x="812800" y="0"/>
                  </a:lnTo>
                  <a:lnTo>
                    <a:pt x="812800" y="1721121"/>
                  </a:lnTo>
                  <a:lnTo>
                    <a:pt x="0" y="1721121"/>
                  </a:lnTo>
                  <a:close/>
                </a:path>
              </a:pathLst>
            </a:custGeom>
            <a:ln w="47625" cap="sq">
              <a:solidFill>
                <a:srgbClr val="000000">
                  <a:alpha val="13725"/>
                </a:srgbClr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1768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3693252" y="3098929"/>
            <a:ext cx="3086100" cy="6534883"/>
            <a:chOff x="0" y="0"/>
            <a:chExt cx="812800" cy="17211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721121"/>
            </a:xfrm>
            <a:custGeom>
              <a:avLst/>
              <a:gdLst/>
              <a:ahLst/>
              <a:cxnLst/>
              <a:rect l="l" t="t" r="r" b="b"/>
              <a:pathLst>
                <a:path w="812800" h="1721121">
                  <a:moveTo>
                    <a:pt x="0" y="0"/>
                  </a:moveTo>
                  <a:lnTo>
                    <a:pt x="812800" y="0"/>
                  </a:lnTo>
                  <a:lnTo>
                    <a:pt x="812800" y="1721121"/>
                  </a:lnTo>
                  <a:lnTo>
                    <a:pt x="0" y="1721121"/>
                  </a:lnTo>
                  <a:close/>
                </a:path>
              </a:pathLst>
            </a:custGeom>
            <a:ln w="47625" cap="sq">
              <a:solidFill>
                <a:srgbClr val="000000">
                  <a:alpha val="13725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1768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3397314" y="836660"/>
            <a:ext cx="477278" cy="47727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10137" y="0"/>
                  </a:moveTo>
                  <a:lnTo>
                    <a:pt x="302663" y="0"/>
                  </a:lnTo>
                  <a:cubicBezTo>
                    <a:pt x="275787" y="0"/>
                    <a:pt x="254000" y="21787"/>
                    <a:pt x="254000" y="48663"/>
                  </a:cubicBezTo>
                  <a:lnTo>
                    <a:pt x="254000" y="205337"/>
                  </a:lnTo>
                  <a:cubicBezTo>
                    <a:pt x="254000" y="232213"/>
                    <a:pt x="232213" y="254000"/>
                    <a:pt x="205337" y="254000"/>
                  </a:cubicBezTo>
                  <a:lnTo>
                    <a:pt x="48663" y="254000"/>
                  </a:lnTo>
                  <a:cubicBezTo>
                    <a:pt x="21787" y="254000"/>
                    <a:pt x="0" y="275787"/>
                    <a:pt x="0" y="302663"/>
                  </a:cubicBezTo>
                  <a:lnTo>
                    <a:pt x="0" y="510137"/>
                  </a:lnTo>
                  <a:cubicBezTo>
                    <a:pt x="0" y="537013"/>
                    <a:pt x="21787" y="558800"/>
                    <a:pt x="48663" y="558800"/>
                  </a:cubicBezTo>
                  <a:lnTo>
                    <a:pt x="205337" y="558800"/>
                  </a:lnTo>
                  <a:cubicBezTo>
                    <a:pt x="232213" y="558800"/>
                    <a:pt x="254000" y="580587"/>
                    <a:pt x="254000" y="607463"/>
                  </a:cubicBezTo>
                  <a:lnTo>
                    <a:pt x="254000" y="764137"/>
                  </a:lnTo>
                  <a:cubicBezTo>
                    <a:pt x="254000" y="791013"/>
                    <a:pt x="275787" y="812800"/>
                    <a:pt x="302663" y="812800"/>
                  </a:cubicBezTo>
                  <a:lnTo>
                    <a:pt x="510137" y="812800"/>
                  </a:lnTo>
                  <a:cubicBezTo>
                    <a:pt x="537013" y="812800"/>
                    <a:pt x="558800" y="791013"/>
                    <a:pt x="558800" y="764137"/>
                  </a:cubicBezTo>
                  <a:lnTo>
                    <a:pt x="558800" y="607463"/>
                  </a:lnTo>
                  <a:cubicBezTo>
                    <a:pt x="558800" y="580587"/>
                    <a:pt x="580587" y="558800"/>
                    <a:pt x="607463" y="558800"/>
                  </a:cubicBezTo>
                  <a:lnTo>
                    <a:pt x="764137" y="558800"/>
                  </a:lnTo>
                  <a:cubicBezTo>
                    <a:pt x="791013" y="558800"/>
                    <a:pt x="812800" y="537013"/>
                    <a:pt x="812800" y="510137"/>
                  </a:cubicBezTo>
                  <a:lnTo>
                    <a:pt x="812800" y="302663"/>
                  </a:lnTo>
                  <a:cubicBezTo>
                    <a:pt x="812800" y="275787"/>
                    <a:pt x="791013" y="254000"/>
                    <a:pt x="764137" y="254000"/>
                  </a:cubicBezTo>
                  <a:lnTo>
                    <a:pt x="607463" y="254000"/>
                  </a:lnTo>
                  <a:cubicBezTo>
                    <a:pt x="580587" y="254000"/>
                    <a:pt x="558800" y="232213"/>
                    <a:pt x="558800" y="205337"/>
                  </a:cubicBezTo>
                  <a:lnTo>
                    <a:pt x="558800" y="48663"/>
                  </a:lnTo>
                  <a:cubicBezTo>
                    <a:pt x="558800" y="21787"/>
                    <a:pt x="537013" y="0"/>
                    <a:pt x="51013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76707" y="887606"/>
            <a:ext cx="9899358" cy="34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当前金融产品获取渠道普遍存在放大收益吸引力、模糊专业术语、刻意隐藏风险等问题</a:t>
            </a:r>
            <a:endParaRPr lang="en-US" sz="205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352640" y="9731275"/>
            <a:ext cx="1813319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背景回顾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8309" y="2893920"/>
            <a:ext cx="2789115" cy="6356958"/>
          </a:xfrm>
          <a:custGeom>
            <a:avLst/>
            <a:gdLst/>
            <a:ahLst/>
            <a:cxnLst/>
            <a:rect l="l" t="t" r="r" b="b"/>
            <a:pathLst>
              <a:path w="2789115" h="6356958">
                <a:moveTo>
                  <a:pt x="0" y="0"/>
                </a:moveTo>
                <a:lnTo>
                  <a:pt x="2789115" y="0"/>
                </a:lnTo>
                <a:lnTo>
                  <a:pt x="278911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95190" y="2893920"/>
            <a:ext cx="2789115" cy="6356958"/>
          </a:xfrm>
          <a:custGeom>
            <a:avLst/>
            <a:gdLst/>
            <a:ahLst/>
            <a:cxnLst/>
            <a:rect l="l" t="t" r="r" b="b"/>
            <a:pathLst>
              <a:path w="2789115" h="6356958">
                <a:moveTo>
                  <a:pt x="0" y="0"/>
                </a:moveTo>
                <a:lnTo>
                  <a:pt x="2789115" y="0"/>
                </a:lnTo>
                <a:lnTo>
                  <a:pt x="278911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9985" y="2893920"/>
            <a:ext cx="2789115" cy="6356958"/>
          </a:xfrm>
          <a:custGeom>
            <a:avLst/>
            <a:gdLst/>
            <a:ahLst/>
            <a:cxnLst/>
            <a:rect l="l" t="t" r="r" b="b"/>
            <a:pathLst>
              <a:path w="2789115" h="6356958">
                <a:moveTo>
                  <a:pt x="0" y="0"/>
                </a:moveTo>
                <a:lnTo>
                  <a:pt x="2789116" y="0"/>
                </a:lnTo>
                <a:lnTo>
                  <a:pt x="278911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36590" y="1750906"/>
            <a:ext cx="1600200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银行理财板块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443738" y="1750906"/>
            <a:ext cx="3303687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支付宝/微信等消费支付入口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92755" y="1750906"/>
            <a:ext cx="2236887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券商/基金专业软件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1441493" y="2893920"/>
            <a:ext cx="3086100" cy="6534883"/>
            <a:chOff x="0" y="0"/>
            <a:chExt cx="812800" cy="17211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721121"/>
            </a:xfrm>
            <a:custGeom>
              <a:avLst/>
              <a:gdLst/>
              <a:ahLst/>
              <a:cxnLst/>
              <a:rect l="l" t="t" r="r" b="b"/>
              <a:pathLst>
                <a:path w="812800" h="1721121">
                  <a:moveTo>
                    <a:pt x="0" y="0"/>
                  </a:moveTo>
                  <a:lnTo>
                    <a:pt x="812800" y="0"/>
                  </a:lnTo>
                  <a:lnTo>
                    <a:pt x="812800" y="1721121"/>
                  </a:lnTo>
                  <a:lnTo>
                    <a:pt x="0" y="1721121"/>
                  </a:lnTo>
                  <a:close/>
                </a:path>
              </a:pathLst>
            </a:custGeom>
            <a:ln w="47625" cap="sq">
              <a:solidFill>
                <a:srgbClr val="000000">
                  <a:alpha val="13725"/>
                </a:srgbClr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1768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7346698" y="2804957"/>
            <a:ext cx="3086100" cy="6534883"/>
            <a:chOff x="0" y="0"/>
            <a:chExt cx="812800" cy="17211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721121"/>
            </a:xfrm>
            <a:custGeom>
              <a:avLst/>
              <a:gdLst/>
              <a:ahLst/>
              <a:cxnLst/>
              <a:rect l="l" t="t" r="r" b="b"/>
              <a:pathLst>
                <a:path w="812800" h="1721121">
                  <a:moveTo>
                    <a:pt x="0" y="0"/>
                  </a:moveTo>
                  <a:lnTo>
                    <a:pt x="812800" y="0"/>
                  </a:lnTo>
                  <a:lnTo>
                    <a:pt x="812800" y="1721121"/>
                  </a:lnTo>
                  <a:lnTo>
                    <a:pt x="0" y="1721121"/>
                  </a:lnTo>
                  <a:close/>
                </a:path>
              </a:pathLst>
            </a:custGeom>
            <a:ln w="47625" cap="sq">
              <a:solidFill>
                <a:srgbClr val="000000">
                  <a:alpha val="13725"/>
                </a:srgbClr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1768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3888872" y="2804957"/>
            <a:ext cx="2957635" cy="6534883"/>
            <a:chOff x="0" y="0"/>
            <a:chExt cx="778966" cy="172112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78966" cy="1721121"/>
            </a:xfrm>
            <a:custGeom>
              <a:avLst/>
              <a:gdLst/>
              <a:ahLst/>
              <a:cxnLst/>
              <a:rect l="l" t="t" r="r" b="b"/>
              <a:pathLst>
                <a:path w="778966" h="1721121">
                  <a:moveTo>
                    <a:pt x="0" y="0"/>
                  </a:moveTo>
                  <a:lnTo>
                    <a:pt x="778966" y="0"/>
                  </a:lnTo>
                  <a:lnTo>
                    <a:pt x="778966" y="1721121"/>
                  </a:lnTo>
                  <a:lnTo>
                    <a:pt x="0" y="1721121"/>
                  </a:lnTo>
                  <a:close/>
                </a:path>
              </a:pathLst>
            </a:custGeom>
            <a:ln w="47625" cap="sq">
              <a:solidFill>
                <a:srgbClr val="000000">
                  <a:alpha val="13725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778966" cy="1768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3397314" y="836660"/>
            <a:ext cx="477278" cy="47727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10137" y="0"/>
                  </a:moveTo>
                  <a:lnTo>
                    <a:pt x="302663" y="0"/>
                  </a:lnTo>
                  <a:cubicBezTo>
                    <a:pt x="275787" y="0"/>
                    <a:pt x="254000" y="21787"/>
                    <a:pt x="254000" y="48663"/>
                  </a:cubicBezTo>
                  <a:lnTo>
                    <a:pt x="254000" y="205337"/>
                  </a:lnTo>
                  <a:cubicBezTo>
                    <a:pt x="254000" y="232213"/>
                    <a:pt x="232213" y="254000"/>
                    <a:pt x="205337" y="254000"/>
                  </a:cubicBezTo>
                  <a:lnTo>
                    <a:pt x="48663" y="254000"/>
                  </a:lnTo>
                  <a:cubicBezTo>
                    <a:pt x="21787" y="254000"/>
                    <a:pt x="0" y="275787"/>
                    <a:pt x="0" y="302663"/>
                  </a:cubicBezTo>
                  <a:lnTo>
                    <a:pt x="0" y="510137"/>
                  </a:lnTo>
                  <a:cubicBezTo>
                    <a:pt x="0" y="537013"/>
                    <a:pt x="21787" y="558800"/>
                    <a:pt x="48663" y="558800"/>
                  </a:cubicBezTo>
                  <a:lnTo>
                    <a:pt x="205337" y="558800"/>
                  </a:lnTo>
                  <a:cubicBezTo>
                    <a:pt x="232213" y="558800"/>
                    <a:pt x="254000" y="580587"/>
                    <a:pt x="254000" y="607463"/>
                  </a:cubicBezTo>
                  <a:lnTo>
                    <a:pt x="254000" y="764137"/>
                  </a:lnTo>
                  <a:cubicBezTo>
                    <a:pt x="254000" y="791013"/>
                    <a:pt x="275787" y="812800"/>
                    <a:pt x="302663" y="812800"/>
                  </a:cubicBezTo>
                  <a:lnTo>
                    <a:pt x="510137" y="812800"/>
                  </a:lnTo>
                  <a:cubicBezTo>
                    <a:pt x="537013" y="812800"/>
                    <a:pt x="558800" y="791013"/>
                    <a:pt x="558800" y="764137"/>
                  </a:cubicBezTo>
                  <a:lnTo>
                    <a:pt x="558800" y="607463"/>
                  </a:lnTo>
                  <a:cubicBezTo>
                    <a:pt x="558800" y="580587"/>
                    <a:pt x="580587" y="558800"/>
                    <a:pt x="607463" y="558800"/>
                  </a:cubicBezTo>
                  <a:lnTo>
                    <a:pt x="764137" y="558800"/>
                  </a:lnTo>
                  <a:cubicBezTo>
                    <a:pt x="791013" y="558800"/>
                    <a:pt x="812800" y="537013"/>
                    <a:pt x="812800" y="510137"/>
                  </a:cubicBezTo>
                  <a:lnTo>
                    <a:pt x="812800" y="302663"/>
                  </a:lnTo>
                  <a:cubicBezTo>
                    <a:pt x="812800" y="275787"/>
                    <a:pt x="791013" y="254000"/>
                    <a:pt x="764137" y="254000"/>
                  </a:cubicBezTo>
                  <a:lnTo>
                    <a:pt x="607463" y="254000"/>
                  </a:lnTo>
                  <a:cubicBezTo>
                    <a:pt x="580587" y="254000"/>
                    <a:pt x="558800" y="232213"/>
                    <a:pt x="558800" y="205337"/>
                  </a:cubicBezTo>
                  <a:lnTo>
                    <a:pt x="558800" y="48663"/>
                  </a:lnTo>
                  <a:cubicBezTo>
                    <a:pt x="558800" y="21787"/>
                    <a:pt x="537013" y="0"/>
                    <a:pt x="510137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76707" y="887606"/>
            <a:ext cx="9899358" cy="34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当前金融产品获取渠道普遍存在放大收益吸引力、模糊专业术语、刻意隐藏风险等问题</a:t>
            </a:r>
            <a:endParaRPr lang="en-US" sz="205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352640" y="9731275"/>
            <a:ext cx="1813319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背景回顾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6650" y="3545824"/>
            <a:ext cx="10934700" cy="192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ctr">
              <a:lnSpc>
                <a:spcPts val="5250"/>
              </a:lnSpc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这样的设计让大众投资者难以正确选择符合他们的投资需求、收益期望与风险偏好的金融产品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ctr">
              <a:lnSpc>
                <a:spcPts val="5250"/>
              </a:lnSpc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大众对金融市场的风险厌恶，即便是最接地气的基金、股票交易，也被认为是危险的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352640" y="9731275"/>
            <a:ext cx="1813319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背景回顾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71370"/>
            <a:ext cx="4190282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用户画像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23900" y="1485900"/>
            <a:ext cx="14763750" cy="110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设计阶段：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通过用户访谈和竞品分析初步明确了目标用户、核心使用场景和差异化价值，输出了需求文档和产品定位说明；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252870" y="4507386"/>
            <a:ext cx="431734" cy="431734"/>
          </a:xfrm>
          <a:custGeom>
            <a:avLst/>
            <a:gdLst/>
            <a:ahLst/>
            <a:cxnLst/>
            <a:rect l="l" t="t" r="r" b="b"/>
            <a:pathLst>
              <a:path w="431734" h="431734">
                <a:moveTo>
                  <a:pt x="0" y="0"/>
                </a:moveTo>
                <a:lnTo>
                  <a:pt x="431734" y="0"/>
                </a:lnTo>
                <a:lnTo>
                  <a:pt x="431734" y="431734"/>
                </a:lnTo>
                <a:lnTo>
                  <a:pt x="0" y="43173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52870" y="3828334"/>
            <a:ext cx="432272" cy="432272"/>
          </a:xfrm>
          <a:custGeom>
            <a:avLst/>
            <a:gdLst/>
            <a:ahLst/>
            <a:cxnLst/>
            <a:rect l="l" t="t" r="r" b="b"/>
            <a:pathLst>
              <a:path w="432272" h="432272">
                <a:moveTo>
                  <a:pt x="0" y="0"/>
                </a:moveTo>
                <a:lnTo>
                  <a:pt x="432272" y="0"/>
                </a:lnTo>
                <a:lnTo>
                  <a:pt x="432272" y="432272"/>
                </a:lnTo>
                <a:lnTo>
                  <a:pt x="0" y="4322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52870" y="5185900"/>
            <a:ext cx="432272" cy="432272"/>
          </a:xfrm>
          <a:custGeom>
            <a:avLst/>
            <a:gdLst/>
            <a:ahLst/>
            <a:cxnLst/>
            <a:rect l="l" t="t" r="r" b="b"/>
            <a:pathLst>
              <a:path w="432272" h="432272">
                <a:moveTo>
                  <a:pt x="0" y="0"/>
                </a:moveTo>
                <a:lnTo>
                  <a:pt x="432272" y="0"/>
                </a:lnTo>
                <a:lnTo>
                  <a:pt x="432272" y="432272"/>
                </a:lnTo>
                <a:lnTo>
                  <a:pt x="0" y="4322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76670" y="7110776"/>
            <a:ext cx="481224" cy="443327"/>
          </a:xfrm>
          <a:custGeom>
            <a:avLst/>
            <a:gdLst/>
            <a:ahLst/>
            <a:cxnLst/>
            <a:rect l="l" t="t" r="r" b="b"/>
            <a:pathLst>
              <a:path w="481224" h="443327">
                <a:moveTo>
                  <a:pt x="0" y="0"/>
                </a:moveTo>
                <a:lnTo>
                  <a:pt x="481223" y="0"/>
                </a:lnTo>
                <a:lnTo>
                  <a:pt x="481223" y="443327"/>
                </a:lnTo>
                <a:lnTo>
                  <a:pt x="0" y="443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05326" y="7842596"/>
            <a:ext cx="423910" cy="423910"/>
          </a:xfrm>
          <a:custGeom>
            <a:avLst/>
            <a:gdLst/>
            <a:ahLst/>
            <a:cxnLst/>
            <a:rect l="l" t="t" r="r" b="b"/>
            <a:pathLst>
              <a:path w="423910" h="423910">
                <a:moveTo>
                  <a:pt x="0" y="0"/>
                </a:moveTo>
                <a:lnTo>
                  <a:pt x="423911" y="0"/>
                </a:lnTo>
                <a:lnTo>
                  <a:pt x="423911" y="423910"/>
                </a:lnTo>
                <a:lnTo>
                  <a:pt x="0" y="4239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52870" y="5864952"/>
            <a:ext cx="431734" cy="431734"/>
          </a:xfrm>
          <a:custGeom>
            <a:avLst/>
            <a:gdLst/>
            <a:ahLst/>
            <a:cxnLst/>
            <a:rect l="l" t="t" r="r" b="b"/>
            <a:pathLst>
              <a:path w="431734" h="431734">
                <a:moveTo>
                  <a:pt x="0" y="0"/>
                </a:moveTo>
                <a:lnTo>
                  <a:pt x="431734" y="0"/>
                </a:lnTo>
                <a:lnTo>
                  <a:pt x="431734" y="431735"/>
                </a:lnTo>
                <a:lnTo>
                  <a:pt x="0" y="4317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988286" y="3837778"/>
            <a:ext cx="1913930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a. 没有储蓄习惯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88286" y="4536910"/>
            <a:ext cx="6988373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b. 没有储蓄习惯，但有简单的投资行为（余额宝、零钱通）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988286" y="5331292"/>
            <a:ext cx="3559354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c</a:t>
            </a: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. 有储蓄习惯但没有投资习惯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988286" y="6030424"/>
            <a:ext cx="11049834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d</a:t>
            </a: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. 有储蓄习惯也有投资习惯，但投资品种简单（一般为支付宝、微信的定投活期低收益产品）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852794" y="7995997"/>
            <a:ext cx="12390425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</a:t>
            </a: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f</a:t>
            </a: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. 有储蓄习惯也有投资习惯，不仅会主动选择投资品种，还会制定交易策略，甚至部分会参与衍生品交易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12086" y="7296865"/>
            <a:ext cx="1483774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e</a:t>
            </a: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. 有储蓄习惯也有投资习惯，且投资渠道更为多元，拥有券商、基金账户，主动选择投资品种，但并不对交易策略有深入研究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2050782" y="3691081"/>
            <a:ext cx="12137920" cy="2868698"/>
            <a:chOff x="0" y="0"/>
            <a:chExt cx="3196819" cy="7555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96819" cy="755542"/>
            </a:xfrm>
            <a:custGeom>
              <a:avLst/>
              <a:gdLst/>
              <a:ahLst/>
              <a:cxnLst/>
              <a:rect l="l" t="t" r="r" b="b"/>
              <a:pathLst>
                <a:path w="3196819" h="755542">
                  <a:moveTo>
                    <a:pt x="10843" y="0"/>
                  </a:moveTo>
                  <a:lnTo>
                    <a:pt x="3185975" y="0"/>
                  </a:lnTo>
                  <a:cubicBezTo>
                    <a:pt x="3188851" y="0"/>
                    <a:pt x="3191609" y="1142"/>
                    <a:pt x="3193643" y="3176"/>
                  </a:cubicBezTo>
                  <a:cubicBezTo>
                    <a:pt x="3195676" y="5209"/>
                    <a:pt x="3196819" y="7967"/>
                    <a:pt x="3196819" y="10843"/>
                  </a:cubicBezTo>
                  <a:lnTo>
                    <a:pt x="3196819" y="744699"/>
                  </a:lnTo>
                  <a:cubicBezTo>
                    <a:pt x="3196819" y="747575"/>
                    <a:pt x="3195676" y="750333"/>
                    <a:pt x="3193643" y="752366"/>
                  </a:cubicBezTo>
                  <a:cubicBezTo>
                    <a:pt x="3191609" y="754400"/>
                    <a:pt x="3188851" y="755542"/>
                    <a:pt x="3185975" y="755542"/>
                  </a:cubicBezTo>
                  <a:lnTo>
                    <a:pt x="10843" y="755542"/>
                  </a:lnTo>
                  <a:cubicBezTo>
                    <a:pt x="7967" y="755542"/>
                    <a:pt x="5209" y="754400"/>
                    <a:pt x="3176" y="752366"/>
                  </a:cubicBezTo>
                  <a:cubicBezTo>
                    <a:pt x="1142" y="750333"/>
                    <a:pt x="0" y="747575"/>
                    <a:pt x="0" y="744699"/>
                  </a:cubicBezTo>
                  <a:lnTo>
                    <a:pt x="0" y="10843"/>
                  </a:lnTo>
                  <a:cubicBezTo>
                    <a:pt x="0" y="7967"/>
                    <a:pt x="1142" y="5209"/>
                    <a:pt x="3176" y="3176"/>
                  </a:cubicBezTo>
                  <a:cubicBezTo>
                    <a:pt x="5209" y="1142"/>
                    <a:pt x="7967" y="0"/>
                    <a:pt x="10843" y="0"/>
                  </a:cubicBezTo>
                  <a:close/>
                </a:path>
              </a:pathLst>
            </a:custGeom>
            <a:ln w="66675" cap="sq">
              <a:solidFill>
                <a:srgbClr val="A7BC9B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3196819" cy="803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10800000">
            <a:off x="1746100" y="6366571"/>
            <a:ext cx="522333" cy="482546"/>
            <a:chOff x="0" y="0"/>
            <a:chExt cx="812800" cy="7508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7305B"/>
            </a:solidFill>
          </p:spPr>
        </p:sp>
        <p:sp>
          <p:nvSpPr>
            <p:cNvPr id="22" name="TextBox 22"/>
            <p:cNvSpPr txBox="1"/>
            <p:nvPr/>
          </p:nvSpPr>
          <p:spPr>
            <a:xfrm rot="3479999"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2835624" y="5993439"/>
            <a:ext cx="11202496" cy="485102"/>
            <a:chOff x="0" y="0"/>
            <a:chExt cx="2950452" cy="12776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50452" cy="127763"/>
            </a:xfrm>
            <a:custGeom>
              <a:avLst/>
              <a:gdLst/>
              <a:ahLst/>
              <a:cxnLst/>
              <a:rect l="l" t="t" r="r" b="b"/>
              <a:pathLst>
                <a:path w="2950452" h="127763">
                  <a:moveTo>
                    <a:pt x="11749" y="0"/>
                  </a:moveTo>
                  <a:lnTo>
                    <a:pt x="2938703" y="0"/>
                  </a:lnTo>
                  <a:cubicBezTo>
                    <a:pt x="2941819" y="0"/>
                    <a:pt x="2944807" y="1238"/>
                    <a:pt x="2947011" y="3441"/>
                  </a:cubicBezTo>
                  <a:cubicBezTo>
                    <a:pt x="2949214" y="5644"/>
                    <a:pt x="2950452" y="8633"/>
                    <a:pt x="2950452" y="11749"/>
                  </a:cubicBezTo>
                  <a:lnTo>
                    <a:pt x="2950452" y="116015"/>
                  </a:lnTo>
                  <a:cubicBezTo>
                    <a:pt x="2950452" y="119131"/>
                    <a:pt x="2949214" y="122119"/>
                    <a:pt x="2947011" y="124322"/>
                  </a:cubicBezTo>
                  <a:cubicBezTo>
                    <a:pt x="2944807" y="126526"/>
                    <a:pt x="2941819" y="127763"/>
                    <a:pt x="2938703" y="127763"/>
                  </a:cubicBezTo>
                  <a:lnTo>
                    <a:pt x="11749" y="127763"/>
                  </a:lnTo>
                  <a:cubicBezTo>
                    <a:pt x="8633" y="127763"/>
                    <a:pt x="5644" y="126526"/>
                    <a:pt x="3441" y="124322"/>
                  </a:cubicBezTo>
                  <a:cubicBezTo>
                    <a:pt x="1238" y="122119"/>
                    <a:pt x="0" y="119131"/>
                    <a:pt x="0" y="116015"/>
                  </a:cubicBezTo>
                  <a:lnTo>
                    <a:pt x="0" y="11749"/>
                  </a:lnTo>
                  <a:cubicBezTo>
                    <a:pt x="0" y="8633"/>
                    <a:pt x="1238" y="5644"/>
                    <a:pt x="3441" y="3441"/>
                  </a:cubicBezTo>
                  <a:cubicBezTo>
                    <a:pt x="5644" y="1238"/>
                    <a:pt x="8633" y="0"/>
                    <a:pt x="11749" y="0"/>
                  </a:cubicBezTo>
                  <a:close/>
                </a:path>
              </a:pathLst>
            </a:custGeom>
            <a:ln w="28575" cap="sq">
              <a:solidFill>
                <a:srgbClr val="CB2419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950452" cy="175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352640" y="9731275"/>
            <a:ext cx="1813319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背景回顾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71370"/>
            <a:ext cx="4190282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用户参与度三轴模型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23900" y="1485900"/>
            <a:ext cx="14763750" cy="110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设计阶段：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通过用户访谈和竞品分析初步明确了目标用户、核心使用场景和差异化价值，输出了需求文档和产品定位说明；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999054" y="3357409"/>
            <a:ext cx="13831025" cy="6273442"/>
          </a:xfrm>
          <a:custGeom>
            <a:avLst/>
            <a:gdLst/>
            <a:ahLst/>
            <a:cxnLst/>
            <a:rect l="l" t="t" r="r" b="b"/>
            <a:pathLst>
              <a:path w="13831025" h="6273442">
                <a:moveTo>
                  <a:pt x="0" y="0"/>
                </a:moveTo>
                <a:lnTo>
                  <a:pt x="13831026" y="0"/>
                </a:lnTo>
                <a:lnTo>
                  <a:pt x="13831026" y="6273443"/>
                </a:lnTo>
                <a:lnTo>
                  <a:pt x="0" y="627344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3005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9646" y="9901667"/>
            <a:ext cx="18228709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来源：Ruowei Xiao, Zhanwei Wu &amp; Juho Hamari: Internet-of-Gamification: A Review of Literature on IoT-enabled Gamification for User Engagement, </a:t>
            </a:r>
            <a:endParaRPr lang="en-US" sz="10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6948745" y="6879525"/>
            <a:ext cx="1658221" cy="371306"/>
            <a:chOff x="0" y="0"/>
            <a:chExt cx="436733" cy="97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6733" cy="97792"/>
            </a:xfrm>
            <a:custGeom>
              <a:avLst/>
              <a:gdLst/>
              <a:ahLst/>
              <a:cxnLst/>
              <a:rect l="l" t="t" r="r" b="b"/>
              <a:pathLst>
                <a:path w="436733" h="97792">
                  <a:moveTo>
                    <a:pt x="48896" y="0"/>
                  </a:moveTo>
                  <a:lnTo>
                    <a:pt x="387837" y="0"/>
                  </a:lnTo>
                  <a:cubicBezTo>
                    <a:pt x="400805" y="0"/>
                    <a:pt x="413242" y="5152"/>
                    <a:pt x="422412" y="14321"/>
                  </a:cubicBezTo>
                  <a:cubicBezTo>
                    <a:pt x="431582" y="23491"/>
                    <a:pt x="436733" y="35928"/>
                    <a:pt x="436733" y="48896"/>
                  </a:cubicBezTo>
                  <a:lnTo>
                    <a:pt x="436733" y="48896"/>
                  </a:lnTo>
                  <a:cubicBezTo>
                    <a:pt x="436733" y="61864"/>
                    <a:pt x="431582" y="74301"/>
                    <a:pt x="422412" y="83471"/>
                  </a:cubicBezTo>
                  <a:cubicBezTo>
                    <a:pt x="413242" y="92641"/>
                    <a:pt x="400805" y="97792"/>
                    <a:pt x="387837" y="97792"/>
                  </a:cubicBezTo>
                  <a:lnTo>
                    <a:pt x="48896" y="97792"/>
                  </a:lnTo>
                  <a:cubicBezTo>
                    <a:pt x="35928" y="97792"/>
                    <a:pt x="23491" y="92641"/>
                    <a:pt x="14321" y="83471"/>
                  </a:cubicBezTo>
                  <a:cubicBezTo>
                    <a:pt x="5152" y="74301"/>
                    <a:pt x="0" y="61864"/>
                    <a:pt x="0" y="48896"/>
                  </a:cubicBezTo>
                  <a:lnTo>
                    <a:pt x="0" y="48896"/>
                  </a:lnTo>
                  <a:cubicBezTo>
                    <a:pt x="0" y="35928"/>
                    <a:pt x="5152" y="23491"/>
                    <a:pt x="14321" y="14321"/>
                  </a:cubicBezTo>
                  <a:cubicBezTo>
                    <a:pt x="23491" y="5152"/>
                    <a:pt x="35928" y="0"/>
                    <a:pt x="48896" y="0"/>
                  </a:cubicBezTo>
                  <a:close/>
                </a:path>
              </a:pathLst>
            </a:custGeom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36733" cy="145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330356" y="7279405"/>
            <a:ext cx="1658221" cy="371306"/>
            <a:chOff x="0" y="0"/>
            <a:chExt cx="436733" cy="97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6733" cy="97792"/>
            </a:xfrm>
            <a:custGeom>
              <a:avLst/>
              <a:gdLst/>
              <a:ahLst/>
              <a:cxnLst/>
              <a:rect l="l" t="t" r="r" b="b"/>
              <a:pathLst>
                <a:path w="436733" h="97792">
                  <a:moveTo>
                    <a:pt x="48896" y="0"/>
                  </a:moveTo>
                  <a:lnTo>
                    <a:pt x="387837" y="0"/>
                  </a:lnTo>
                  <a:cubicBezTo>
                    <a:pt x="400805" y="0"/>
                    <a:pt x="413242" y="5152"/>
                    <a:pt x="422412" y="14321"/>
                  </a:cubicBezTo>
                  <a:cubicBezTo>
                    <a:pt x="431582" y="23491"/>
                    <a:pt x="436733" y="35928"/>
                    <a:pt x="436733" y="48896"/>
                  </a:cubicBezTo>
                  <a:lnTo>
                    <a:pt x="436733" y="48896"/>
                  </a:lnTo>
                  <a:cubicBezTo>
                    <a:pt x="436733" y="61864"/>
                    <a:pt x="431582" y="74301"/>
                    <a:pt x="422412" y="83471"/>
                  </a:cubicBezTo>
                  <a:cubicBezTo>
                    <a:pt x="413242" y="92641"/>
                    <a:pt x="400805" y="97792"/>
                    <a:pt x="387837" y="97792"/>
                  </a:cubicBezTo>
                  <a:lnTo>
                    <a:pt x="48896" y="97792"/>
                  </a:lnTo>
                  <a:cubicBezTo>
                    <a:pt x="35928" y="97792"/>
                    <a:pt x="23491" y="92641"/>
                    <a:pt x="14321" y="83471"/>
                  </a:cubicBezTo>
                  <a:cubicBezTo>
                    <a:pt x="5152" y="74301"/>
                    <a:pt x="0" y="61864"/>
                    <a:pt x="0" y="48896"/>
                  </a:cubicBezTo>
                  <a:lnTo>
                    <a:pt x="0" y="48896"/>
                  </a:lnTo>
                  <a:cubicBezTo>
                    <a:pt x="0" y="35928"/>
                    <a:pt x="5152" y="23491"/>
                    <a:pt x="14321" y="14321"/>
                  </a:cubicBezTo>
                  <a:cubicBezTo>
                    <a:pt x="23491" y="5152"/>
                    <a:pt x="35928" y="0"/>
                    <a:pt x="48896" y="0"/>
                  </a:cubicBezTo>
                  <a:close/>
                </a:path>
              </a:pathLst>
            </a:custGeom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36733" cy="145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8741540" y="7093753"/>
            <a:ext cx="1885505" cy="806109"/>
            <a:chOff x="0" y="0"/>
            <a:chExt cx="496594" cy="2123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6594" cy="212309"/>
            </a:xfrm>
            <a:custGeom>
              <a:avLst/>
              <a:gdLst/>
              <a:ahLst/>
              <a:cxnLst/>
              <a:rect l="l" t="t" r="r" b="b"/>
              <a:pathLst>
                <a:path w="496594" h="212309">
                  <a:moveTo>
                    <a:pt x="69802" y="0"/>
                  </a:moveTo>
                  <a:lnTo>
                    <a:pt x="426791" y="0"/>
                  </a:lnTo>
                  <a:cubicBezTo>
                    <a:pt x="445304" y="0"/>
                    <a:pt x="463059" y="7354"/>
                    <a:pt x="476149" y="20445"/>
                  </a:cubicBezTo>
                  <a:cubicBezTo>
                    <a:pt x="489240" y="33535"/>
                    <a:pt x="496594" y="51290"/>
                    <a:pt x="496594" y="69802"/>
                  </a:cubicBezTo>
                  <a:lnTo>
                    <a:pt x="496594" y="142506"/>
                  </a:lnTo>
                  <a:cubicBezTo>
                    <a:pt x="496594" y="161019"/>
                    <a:pt x="489240" y="178774"/>
                    <a:pt x="476149" y="191864"/>
                  </a:cubicBezTo>
                  <a:cubicBezTo>
                    <a:pt x="463059" y="204954"/>
                    <a:pt x="445304" y="212309"/>
                    <a:pt x="426791" y="212309"/>
                  </a:cubicBezTo>
                  <a:lnTo>
                    <a:pt x="69802" y="212309"/>
                  </a:lnTo>
                  <a:cubicBezTo>
                    <a:pt x="51290" y="212309"/>
                    <a:pt x="33535" y="204954"/>
                    <a:pt x="20445" y="191864"/>
                  </a:cubicBezTo>
                  <a:cubicBezTo>
                    <a:pt x="7354" y="178774"/>
                    <a:pt x="0" y="161019"/>
                    <a:pt x="0" y="142506"/>
                  </a:cubicBezTo>
                  <a:lnTo>
                    <a:pt x="0" y="69802"/>
                  </a:lnTo>
                  <a:cubicBezTo>
                    <a:pt x="0" y="51290"/>
                    <a:pt x="7354" y="33535"/>
                    <a:pt x="20445" y="20445"/>
                  </a:cubicBezTo>
                  <a:cubicBezTo>
                    <a:pt x="33535" y="7354"/>
                    <a:pt x="51290" y="0"/>
                    <a:pt x="69802" y="0"/>
                  </a:cubicBezTo>
                  <a:close/>
                </a:path>
              </a:pathLst>
            </a:custGeom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96594" cy="25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8606965" y="5816451"/>
            <a:ext cx="3703774" cy="371306"/>
            <a:chOff x="0" y="0"/>
            <a:chExt cx="975480" cy="977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5480" cy="97792"/>
            </a:xfrm>
            <a:custGeom>
              <a:avLst/>
              <a:gdLst/>
              <a:ahLst/>
              <a:cxnLst/>
              <a:rect l="l" t="t" r="r" b="b"/>
              <a:pathLst>
                <a:path w="975480" h="97792">
                  <a:moveTo>
                    <a:pt x="35535" y="0"/>
                  </a:moveTo>
                  <a:lnTo>
                    <a:pt x="939945" y="0"/>
                  </a:lnTo>
                  <a:cubicBezTo>
                    <a:pt x="959570" y="0"/>
                    <a:pt x="975480" y="15909"/>
                    <a:pt x="975480" y="35535"/>
                  </a:cubicBezTo>
                  <a:lnTo>
                    <a:pt x="975480" y="62258"/>
                  </a:lnTo>
                  <a:cubicBezTo>
                    <a:pt x="975480" y="71682"/>
                    <a:pt x="971736" y="80721"/>
                    <a:pt x="965072" y="87385"/>
                  </a:cubicBezTo>
                  <a:cubicBezTo>
                    <a:pt x="958408" y="94049"/>
                    <a:pt x="949369" y="97792"/>
                    <a:pt x="939945" y="97792"/>
                  </a:cubicBezTo>
                  <a:lnTo>
                    <a:pt x="35535" y="97792"/>
                  </a:lnTo>
                  <a:cubicBezTo>
                    <a:pt x="15909" y="97792"/>
                    <a:pt x="0" y="81883"/>
                    <a:pt x="0" y="62258"/>
                  </a:cubicBezTo>
                  <a:lnTo>
                    <a:pt x="0" y="35535"/>
                  </a:lnTo>
                  <a:cubicBezTo>
                    <a:pt x="0" y="26110"/>
                    <a:pt x="3744" y="17072"/>
                    <a:pt x="10408" y="10408"/>
                  </a:cubicBezTo>
                  <a:cubicBezTo>
                    <a:pt x="17072" y="3744"/>
                    <a:pt x="26110" y="0"/>
                    <a:pt x="35535" y="0"/>
                  </a:cubicBezTo>
                  <a:close/>
                </a:path>
              </a:pathLst>
            </a:custGeom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75480" cy="145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352640" y="9731275"/>
            <a:ext cx="1813319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背景回顾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33659" y="1512252"/>
            <a:ext cx="13895205" cy="7913449"/>
          </a:xfrm>
          <a:custGeom>
            <a:avLst/>
            <a:gdLst/>
            <a:ahLst/>
            <a:cxnLst/>
            <a:rect l="l" t="t" r="r" b="b"/>
            <a:pathLst>
              <a:path w="13895205" h="7913449">
                <a:moveTo>
                  <a:pt x="0" y="0"/>
                </a:moveTo>
                <a:lnTo>
                  <a:pt x="13895206" y="0"/>
                </a:lnTo>
                <a:lnTo>
                  <a:pt x="13895206" y="7913449"/>
                </a:lnTo>
                <a:lnTo>
                  <a:pt x="0" y="791344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401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71370"/>
            <a:ext cx="4190282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时间节点规划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352640" y="9731275"/>
            <a:ext cx="1813319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背景回顾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39944" y="3259884"/>
            <a:ext cx="9230527" cy="5746003"/>
          </a:xfrm>
          <a:custGeom>
            <a:avLst/>
            <a:gdLst/>
            <a:ahLst/>
            <a:cxnLst/>
            <a:rect l="l" t="t" r="r" b="b"/>
            <a:pathLst>
              <a:path w="9230527" h="5746003">
                <a:moveTo>
                  <a:pt x="0" y="0"/>
                </a:moveTo>
                <a:lnTo>
                  <a:pt x="9230528" y="0"/>
                </a:lnTo>
                <a:lnTo>
                  <a:pt x="9230528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487650" y="9731275"/>
            <a:ext cx="2622078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工作汇报：设计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23900" y="1233487"/>
            <a:ext cx="14763750" cy="110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设计阶段：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通过用户访谈和竞品分析初步明确了目标用户、核心使用场景和差异化价值，输出了需求文档和产品定位说明；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17528" y="4428291"/>
            <a:ext cx="5590815" cy="29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借助 agent &amp; 大模型，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实现专业性更强的数字劳动力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模仿专业UX设计师、互联网产品设计师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指导设计工作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93883" y="2517344"/>
            <a:ext cx="3575789" cy="6110385"/>
          </a:xfrm>
          <a:custGeom>
            <a:avLst/>
            <a:gdLst/>
            <a:ahLst/>
            <a:cxnLst/>
            <a:rect l="l" t="t" r="r" b="b"/>
            <a:pathLst>
              <a:path w="3575789" h="6110385">
                <a:moveTo>
                  <a:pt x="0" y="0"/>
                </a:moveTo>
                <a:lnTo>
                  <a:pt x="3575789" y="0"/>
                </a:lnTo>
                <a:lnTo>
                  <a:pt x="3575789" y="6110385"/>
                </a:lnTo>
                <a:lnTo>
                  <a:pt x="0" y="611038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403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75194" y="2527207"/>
            <a:ext cx="3575789" cy="6139974"/>
          </a:xfrm>
          <a:custGeom>
            <a:avLst/>
            <a:gdLst/>
            <a:ahLst/>
            <a:cxnLst/>
            <a:rect l="l" t="t" r="r" b="b"/>
            <a:pathLst>
              <a:path w="3575789" h="6139974">
                <a:moveTo>
                  <a:pt x="0" y="0"/>
                </a:moveTo>
                <a:lnTo>
                  <a:pt x="3575789" y="0"/>
                </a:lnTo>
                <a:lnTo>
                  <a:pt x="3575789" y="6139974"/>
                </a:lnTo>
                <a:lnTo>
                  <a:pt x="0" y="6139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53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12572" y="2517344"/>
            <a:ext cx="3575789" cy="6287918"/>
          </a:xfrm>
          <a:custGeom>
            <a:avLst/>
            <a:gdLst/>
            <a:ahLst/>
            <a:cxnLst/>
            <a:rect l="l" t="t" r="r" b="b"/>
            <a:pathLst>
              <a:path w="3575789" h="6287918">
                <a:moveTo>
                  <a:pt x="0" y="0"/>
                </a:moveTo>
                <a:lnTo>
                  <a:pt x="3575789" y="0"/>
                </a:lnTo>
                <a:lnTo>
                  <a:pt x="3575789" y="6287918"/>
                </a:lnTo>
                <a:lnTo>
                  <a:pt x="0" y="6287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9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371370"/>
            <a:ext cx="4190282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工作汇报：第二阶段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23900" y="1485900"/>
            <a:ext cx="3306234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问题1 - 文本不提供亲和力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23900" y="2151585"/>
            <a:ext cx="3306234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问题2 - 资产管理功能鸡肋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23900" y="2812619"/>
            <a:ext cx="3306234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问题3 - 用户没有信任感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3900" y="4088542"/>
            <a:ext cx="5590815" cy="29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新手投资者防御心理强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新手投资者没有“资产管理”的需求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新手投资者需要游戏化的反馈机制激励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新手投资者需要情感联结，消解抵触情绪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487650" y="9731275"/>
            <a:ext cx="2622078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工作汇报：设计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05889" y="8757637"/>
            <a:ext cx="9144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第一版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724578" y="8757637"/>
            <a:ext cx="9144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第二版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266035" y="8757920"/>
            <a:ext cx="2540635" cy="430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新版AI指导模板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03197" y="3754952"/>
            <a:ext cx="10709074" cy="4819083"/>
          </a:xfrm>
          <a:custGeom>
            <a:avLst/>
            <a:gdLst/>
            <a:ahLst/>
            <a:cxnLst/>
            <a:rect l="l" t="t" r="r" b="b"/>
            <a:pathLst>
              <a:path w="10709074" h="4819083">
                <a:moveTo>
                  <a:pt x="0" y="0"/>
                </a:moveTo>
                <a:lnTo>
                  <a:pt x="10709074" y="0"/>
                </a:lnTo>
                <a:lnTo>
                  <a:pt x="10709074" y="4819083"/>
                </a:lnTo>
                <a:lnTo>
                  <a:pt x="0" y="481908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3900" y="1200150"/>
            <a:ext cx="16216788" cy="148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开发阶段：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在技术层面完成了整体技术架构设计，基于 Flutter 搭建了移动端基础工程，实现了用户管理、登录注册流程及与后端数据 API 的对接，为后续功能开发打下了基础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17528" y="4394954"/>
            <a:ext cx="5590815" cy="29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前端关键页面的原型展示：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拉取日线数据形成平滑折线图/蜡烛图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拉取公司经营状况进行简洁滑窗展示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引入AI进行行话解释，消除认知壁垒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487650" y="9731275"/>
            <a:ext cx="2622078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工作汇报：开发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3900" y="1485900"/>
            <a:ext cx="14402012" cy="1480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开发阶段：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在技术层面完成了整体技术架构设计，基于 Flutter 搭建了移动端基础工程，实现了用户管理、登录注册流程及与后端数据 API 的对接，为后续功能开发打下了基础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5933294"/>
            <a:ext cx="5590815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后端遇到的最大问题：数据源不稳定</a:t>
            </a:r>
            <a:endParaRPr lang="en-US" sz="2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25962" y="4007689"/>
            <a:ext cx="7819834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东方财富、新浪财经时常封ip，导致数据请求服务不稳定</a:t>
            </a:r>
            <a:endParaRPr lang="en-US" sz="2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221116" y="5504558"/>
            <a:ext cx="4778573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引入新的数据供应商：</a:t>
            </a: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沧海数据、iTick...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283785" y="4590787"/>
            <a:ext cx="0" cy="67126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1304856" y="6160513"/>
            <a:ext cx="0" cy="6908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7924906" y="7284338"/>
            <a:ext cx="8286155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四信源依次降级、结构标准化(normalization)以后，传给前端展示交互</a:t>
            </a:r>
            <a:endParaRPr lang="en-US" sz="21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487650" y="9731275"/>
            <a:ext cx="2622078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工作汇报：开发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71370"/>
            <a:ext cx="4599857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工作展望：下一阶段怎么做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841615" y="2315845"/>
            <a:ext cx="3553460" cy="1226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70"/>
              </a:lnSpc>
              <a:spcBef>
                <a:spcPct val="0"/>
              </a:spcBef>
            </a:pPr>
            <a:r>
              <a:rPr lang="en-US" sz="6835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设计端</a:t>
            </a:r>
            <a:endParaRPr lang="en-US" sz="6835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658615" y="4174012"/>
            <a:ext cx="21336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游戏化设计不足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63415" y="6082926"/>
            <a:ext cx="18288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情感</a:t>
            </a: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设计不足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519320" y="6735248"/>
            <a:ext cx="57912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降低“专业性”，提升亲和力，建立信任感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150721" y="4857628"/>
            <a:ext cx="7308205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加入徽章(badge)成就收集系统，增强即时“获得感”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19320" y="7884805"/>
            <a:ext cx="7674918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借助ai生图工具，进行avatar设计，将抽象的服务形象化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4D3D3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14477" y="331298"/>
            <a:ext cx="11301259" cy="5551743"/>
          </a:xfrm>
          <a:custGeom>
            <a:avLst/>
            <a:gdLst/>
            <a:ahLst/>
            <a:cxnLst/>
            <a:rect l="l" t="t" r="r" b="b"/>
            <a:pathLst>
              <a:path w="11301259" h="5551743">
                <a:moveTo>
                  <a:pt x="0" y="0"/>
                </a:moveTo>
                <a:lnTo>
                  <a:pt x="11301259" y="0"/>
                </a:lnTo>
                <a:lnTo>
                  <a:pt x="11301259" y="5551743"/>
                </a:lnTo>
                <a:lnTo>
                  <a:pt x="0" y="555174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7472" y="1114088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32519" y="5598349"/>
            <a:ext cx="11301259" cy="4534630"/>
          </a:xfrm>
          <a:custGeom>
            <a:avLst/>
            <a:gdLst/>
            <a:ahLst/>
            <a:cxnLst/>
            <a:rect l="l" t="t" r="r" b="b"/>
            <a:pathLst>
              <a:path w="11301259" h="4534630">
                <a:moveTo>
                  <a:pt x="0" y="0"/>
                </a:moveTo>
                <a:lnTo>
                  <a:pt x="11301259" y="0"/>
                </a:lnTo>
                <a:lnTo>
                  <a:pt x="11301259" y="4534630"/>
                </a:lnTo>
                <a:lnTo>
                  <a:pt x="0" y="4534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739739" y="1221871"/>
            <a:ext cx="2949476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字节 seedream</a:t>
            </a:r>
            <a:endParaRPr lang="en-US" sz="31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72182" y="5835416"/>
            <a:ext cx="4460379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ComfyUI StableDiffusion工作管线</a:t>
            </a:r>
            <a:endParaRPr lang="en-US" sz="2100">
              <a:solidFill>
                <a:srgbClr val="FFFFFF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9604" y="7251089"/>
            <a:ext cx="4005811" cy="2290823"/>
          </a:xfrm>
          <a:custGeom>
            <a:avLst/>
            <a:gdLst/>
            <a:ahLst/>
            <a:cxnLst/>
            <a:rect l="l" t="t" r="r" b="b"/>
            <a:pathLst>
              <a:path w="4005811" h="2290823">
                <a:moveTo>
                  <a:pt x="0" y="0"/>
                </a:moveTo>
                <a:lnTo>
                  <a:pt x="4005811" y="0"/>
                </a:lnTo>
                <a:lnTo>
                  <a:pt x="4005811" y="2290823"/>
                </a:lnTo>
                <a:lnTo>
                  <a:pt x="0" y="229082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371370"/>
            <a:ext cx="4599857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工作展望：下一阶段怎么做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41615" y="2315845"/>
            <a:ext cx="3829685" cy="1226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70"/>
              </a:lnSpc>
              <a:spcBef>
                <a:spcPct val="0"/>
              </a:spcBef>
            </a:pPr>
            <a:r>
              <a:rPr lang="en-US" sz="6835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工程</a:t>
            </a:r>
            <a:r>
              <a:rPr lang="en-US" sz="6835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端</a:t>
            </a:r>
            <a:endParaRPr lang="en-US" sz="6835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811015" y="4174012"/>
            <a:ext cx="18288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后端服务上云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81163" y="6377108"/>
            <a:ext cx="9144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智能化</a:t>
            </a:r>
            <a:endParaRPr lang="en-US" sz="2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46879" y="7386200"/>
            <a:ext cx="97536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尝试引入在线人工智能为用户提供更有深度的、更快响应的标的研究服务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56791" y="4660370"/>
            <a:ext cx="39624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常用数据进行本地持久化维护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04876" y="5724786"/>
            <a:ext cx="54864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借助云平台提供的专线更快获得实时数据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773585" y="4302230"/>
            <a:ext cx="487680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解决并发需求、弹性部署提升承载力</a:t>
            </a:r>
            <a:endParaRPr lang="en-US" sz="24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728436" y="1892642"/>
            <a:ext cx="13767636" cy="5334844"/>
            <a:chOff x="0" y="0"/>
            <a:chExt cx="3626044" cy="14050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26044" cy="1405062"/>
            </a:xfrm>
            <a:custGeom>
              <a:avLst/>
              <a:gdLst/>
              <a:ahLst/>
              <a:cxnLst/>
              <a:rect l="l" t="t" r="r" b="b"/>
              <a:pathLst>
                <a:path w="3626044" h="1405062">
                  <a:moveTo>
                    <a:pt x="9560" y="0"/>
                  </a:moveTo>
                  <a:lnTo>
                    <a:pt x="3616485" y="0"/>
                  </a:lnTo>
                  <a:cubicBezTo>
                    <a:pt x="3619020" y="0"/>
                    <a:pt x="3621451" y="1007"/>
                    <a:pt x="3623244" y="2800"/>
                  </a:cubicBezTo>
                  <a:cubicBezTo>
                    <a:pt x="3625037" y="4593"/>
                    <a:pt x="3626044" y="7024"/>
                    <a:pt x="3626044" y="9560"/>
                  </a:cubicBezTo>
                  <a:lnTo>
                    <a:pt x="3626044" y="1395502"/>
                  </a:lnTo>
                  <a:cubicBezTo>
                    <a:pt x="3626044" y="1400782"/>
                    <a:pt x="3621764" y="1405062"/>
                    <a:pt x="3616485" y="1405062"/>
                  </a:cubicBezTo>
                  <a:lnTo>
                    <a:pt x="9560" y="1405062"/>
                  </a:lnTo>
                  <a:cubicBezTo>
                    <a:pt x="7024" y="1405062"/>
                    <a:pt x="4593" y="1404055"/>
                    <a:pt x="2800" y="1402262"/>
                  </a:cubicBezTo>
                  <a:cubicBezTo>
                    <a:pt x="1007" y="1400469"/>
                    <a:pt x="0" y="1398038"/>
                    <a:pt x="0" y="1395502"/>
                  </a:cubicBezTo>
                  <a:lnTo>
                    <a:pt x="0" y="9560"/>
                  </a:lnTo>
                  <a:cubicBezTo>
                    <a:pt x="0" y="4280"/>
                    <a:pt x="4280" y="0"/>
                    <a:pt x="9560" y="0"/>
                  </a:cubicBezTo>
                  <a:close/>
                </a:path>
              </a:pathLst>
            </a:custGeom>
            <a:solidFill>
              <a:srgbClr val="F5F8F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626044" cy="1452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9079827" y="4137608"/>
            <a:ext cx="532427" cy="871046"/>
          </a:xfrm>
          <a:custGeom>
            <a:avLst/>
            <a:gdLst/>
            <a:ahLst/>
            <a:cxnLst/>
            <a:rect l="l" t="t" r="r" b="b"/>
            <a:pathLst>
              <a:path w="532427" h="871046">
                <a:moveTo>
                  <a:pt x="0" y="0"/>
                </a:moveTo>
                <a:lnTo>
                  <a:pt x="532427" y="0"/>
                </a:lnTo>
                <a:lnTo>
                  <a:pt x="532427" y="871046"/>
                </a:lnTo>
                <a:lnTo>
                  <a:pt x="0" y="87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17243" y="4137608"/>
            <a:ext cx="603055" cy="844911"/>
          </a:xfrm>
          <a:custGeom>
            <a:avLst/>
            <a:gdLst/>
            <a:ahLst/>
            <a:cxnLst/>
            <a:rect l="l" t="t" r="r" b="b"/>
            <a:pathLst>
              <a:path w="603055" h="844911">
                <a:moveTo>
                  <a:pt x="0" y="0"/>
                </a:moveTo>
                <a:lnTo>
                  <a:pt x="603055" y="0"/>
                </a:lnTo>
                <a:lnTo>
                  <a:pt x="603055" y="844912"/>
                </a:lnTo>
                <a:lnTo>
                  <a:pt x="0" y="8449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347984" y="6051553"/>
            <a:ext cx="870170" cy="724614"/>
          </a:xfrm>
          <a:custGeom>
            <a:avLst/>
            <a:gdLst/>
            <a:ahLst/>
            <a:cxnLst/>
            <a:rect l="l" t="t" r="r" b="b"/>
            <a:pathLst>
              <a:path w="870170" h="724614">
                <a:moveTo>
                  <a:pt x="0" y="0"/>
                </a:moveTo>
                <a:lnTo>
                  <a:pt x="870170" y="0"/>
                </a:lnTo>
                <a:lnTo>
                  <a:pt x="870170" y="724613"/>
                </a:lnTo>
                <a:lnTo>
                  <a:pt x="0" y="7246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017243" y="2470147"/>
            <a:ext cx="692156" cy="778797"/>
          </a:xfrm>
          <a:custGeom>
            <a:avLst/>
            <a:gdLst/>
            <a:ahLst/>
            <a:cxnLst/>
            <a:rect l="l" t="t" r="r" b="b"/>
            <a:pathLst>
              <a:path w="692156" h="778797">
                <a:moveTo>
                  <a:pt x="0" y="0"/>
                </a:moveTo>
                <a:lnTo>
                  <a:pt x="692156" y="0"/>
                </a:lnTo>
                <a:lnTo>
                  <a:pt x="692156" y="778797"/>
                </a:lnTo>
                <a:lnTo>
                  <a:pt x="0" y="7787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44886" y="4216718"/>
            <a:ext cx="712827" cy="712827"/>
          </a:xfrm>
          <a:custGeom>
            <a:avLst/>
            <a:gdLst/>
            <a:ahLst/>
            <a:cxnLst/>
            <a:rect l="l" t="t" r="r" b="b"/>
            <a:pathLst>
              <a:path w="712827" h="712827">
                <a:moveTo>
                  <a:pt x="0" y="0"/>
                </a:moveTo>
                <a:lnTo>
                  <a:pt x="712828" y="0"/>
                </a:lnTo>
                <a:lnTo>
                  <a:pt x="712828" y="712827"/>
                </a:lnTo>
                <a:lnTo>
                  <a:pt x="0" y="7128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5733912" y="4573131"/>
            <a:ext cx="11071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7791748" y="4360605"/>
            <a:ext cx="11071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 flipH="1">
            <a:off x="7791748" y="4759523"/>
            <a:ext cx="11071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>
            <a:off x="9873075" y="4384107"/>
            <a:ext cx="11071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 flipH="1">
            <a:off x="9873075" y="4783026"/>
            <a:ext cx="110713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>
            <a:off x="11941067" y="5220639"/>
            <a:ext cx="0" cy="6928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AutoShape 16"/>
          <p:cNvSpPr/>
          <p:nvPr/>
        </p:nvSpPr>
        <p:spPr>
          <a:xfrm flipV="1">
            <a:off x="11542149" y="5220639"/>
            <a:ext cx="0" cy="6928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AutoShape 17"/>
          <p:cNvSpPr/>
          <p:nvPr/>
        </p:nvSpPr>
        <p:spPr>
          <a:xfrm>
            <a:off x="7382371" y="3379072"/>
            <a:ext cx="0" cy="62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AutoShape 18"/>
          <p:cNvSpPr/>
          <p:nvPr/>
        </p:nvSpPr>
        <p:spPr>
          <a:xfrm>
            <a:off x="11704841" y="3248944"/>
            <a:ext cx="0" cy="62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9" name="AutoShape 19"/>
          <p:cNvSpPr/>
          <p:nvPr/>
        </p:nvSpPr>
        <p:spPr>
          <a:xfrm>
            <a:off x="12501066" y="6312083"/>
            <a:ext cx="80990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0" name="AutoShape 20"/>
          <p:cNvSpPr/>
          <p:nvPr/>
        </p:nvSpPr>
        <p:spPr>
          <a:xfrm flipH="1">
            <a:off x="12501066" y="6653659"/>
            <a:ext cx="80990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H="1" flipV="1">
            <a:off x="5182250" y="6974739"/>
            <a:ext cx="0" cy="62385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2" name="TextBox 22"/>
          <p:cNvSpPr txBox="1"/>
          <p:nvPr/>
        </p:nvSpPr>
        <p:spPr>
          <a:xfrm>
            <a:off x="11281500" y="4146717"/>
            <a:ext cx="884783" cy="86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5"/>
              </a:lnSpc>
              <a:spcBef>
                <a:spcPct val="0"/>
              </a:spcBef>
            </a:pPr>
            <a:r>
              <a:rPr lang="en-US" sz="5075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☁️</a:t>
            </a:r>
            <a:endParaRPr lang="en-US" sz="5075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1516033" y="4171546"/>
            <a:ext cx="401585" cy="401585"/>
          </a:xfrm>
          <a:custGeom>
            <a:avLst/>
            <a:gdLst/>
            <a:ahLst/>
            <a:cxnLst/>
            <a:rect l="l" t="t" r="r" b="b"/>
            <a:pathLst>
              <a:path w="401585" h="401585">
                <a:moveTo>
                  <a:pt x="0" y="0"/>
                </a:moveTo>
                <a:lnTo>
                  <a:pt x="401585" y="0"/>
                </a:lnTo>
                <a:lnTo>
                  <a:pt x="401585" y="401585"/>
                </a:lnTo>
                <a:lnTo>
                  <a:pt x="0" y="4015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412511" y="5946778"/>
            <a:ext cx="1008037" cy="967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5"/>
              </a:lnSpc>
              <a:spcBef>
                <a:spcPct val="0"/>
              </a:spcBef>
            </a:pPr>
            <a:r>
              <a:rPr lang="en-US" sz="578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🤖</a:t>
            </a:r>
            <a:endParaRPr lang="en-US" sz="578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730393" y="7792341"/>
            <a:ext cx="942683" cy="90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0"/>
              </a:lnSpc>
              <a:spcBef>
                <a:spcPct val="0"/>
              </a:spcBef>
            </a:pPr>
            <a:r>
              <a:rPr lang="en-US" sz="5405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🤔</a:t>
            </a:r>
            <a:endParaRPr lang="en-US" sz="5405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892151" y="7782816"/>
            <a:ext cx="954125" cy="921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0"/>
              </a:lnSpc>
              <a:spcBef>
                <a:spcPct val="0"/>
              </a:spcBef>
            </a:pPr>
            <a:r>
              <a:rPr lang="en-US" sz="547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🤑</a:t>
            </a:r>
            <a:endParaRPr lang="en-US" sz="547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518225" y="7792341"/>
            <a:ext cx="994716" cy="94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5"/>
              </a:lnSpc>
              <a:spcBef>
                <a:spcPct val="0"/>
              </a:spcBef>
            </a:pPr>
            <a:r>
              <a:rPr lang="en-US" sz="5705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🤨</a:t>
            </a:r>
            <a:endParaRPr lang="en-US" sz="5705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910131" y="2522161"/>
            <a:ext cx="1589421" cy="536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5"/>
              </a:lnSpc>
              <a:spcBef>
                <a:spcPct val="0"/>
              </a:spcBef>
            </a:pPr>
            <a:r>
              <a:rPr lang="en-US" sz="3145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📈</a:t>
            </a:r>
            <a:endParaRPr lang="en-US" sz="3145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48859" y="4878705"/>
            <a:ext cx="4190282" cy="79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字由点字典黑 Bold" panose="00020600040101010101" charset="-122"/>
                <a:ea typeface="字由点字典黑 Bold" panose="00020600040101010101" charset="-122"/>
                <a:cs typeface="字由点字典黑 Bold" panose="00020600040101010101" charset="-122"/>
                <a:sym typeface="字由点字典黑 Bold" panose="00020600040101010101" charset="-122"/>
              </a:rPr>
              <a:t>感谢聆听！</a:t>
            </a:r>
            <a:endParaRPr lang="en-US" sz="4700">
              <a:solidFill>
                <a:srgbClr val="000000"/>
              </a:solidFill>
              <a:latin typeface="字由点字典黑 Bold" panose="00020600040101010101" charset="-122"/>
              <a:ea typeface="字由点字典黑 Bold" panose="00020600040101010101" charset="-122"/>
              <a:cs typeface="字由点字典黑 Bold" panose="00020600040101010101" charset="-122"/>
              <a:sym typeface="字由点字典黑 Bold" panose="00020600040101010101" charset="-122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598361" y="6090198"/>
            <a:ext cx="6974237" cy="4114800"/>
          </a:xfrm>
          <a:custGeom>
            <a:avLst/>
            <a:gdLst/>
            <a:ahLst/>
            <a:cxnLst/>
            <a:rect l="l" t="t" r="r" b="b"/>
            <a:pathLst>
              <a:path w="6974237" h="4114800">
                <a:moveTo>
                  <a:pt x="0" y="0"/>
                </a:moveTo>
                <a:lnTo>
                  <a:pt x="6974237" y="0"/>
                </a:lnTo>
                <a:lnTo>
                  <a:pt x="69742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1767</Words>
  <Application>WPS 演示</Application>
  <PresentationFormat>On-screen Show (4:3)</PresentationFormat>
  <Paragraphs>193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字由点字典黑 Bold</vt:lpstr>
      <vt:lpstr>字由点字典黑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工作汇报：第一阶段</dc:title>
  <dc:creator/>
  <cp:lastModifiedBy>HarryMoMo</cp:lastModifiedBy>
  <cp:revision>2</cp:revision>
  <dcterms:created xsi:type="dcterms:W3CDTF">2006-08-16T00:00:00Z</dcterms:created>
  <dcterms:modified xsi:type="dcterms:W3CDTF">2026-03-06T03:04:16Z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{"Label":"1","ContentProducer":"001191110105MA01AN806X00000","ProduceID":"DAHDD3I9t-Y","ReservedCode1":"","ContentPropagator":"001191110105MA01AN806X00000","PropagateID":"DAHDD3I9t-Y","ReservedCode2":""}</vt:lpwstr>
  </property>
  <property fmtid="{D5CDD505-2E9C-101B-9397-08002B2CF9AE}" pid="3" name="ICV">
    <vt:lpwstr>BE261C9B2061444EB16FA27C036C80A7_12</vt:lpwstr>
  </property>
  <property fmtid="{D5CDD505-2E9C-101B-9397-08002B2CF9AE}" pid="4" name="KSOProductBuildVer">
    <vt:lpwstr>2052-12.1.0.21915</vt:lpwstr>
  </property>
</Properties>
</file>