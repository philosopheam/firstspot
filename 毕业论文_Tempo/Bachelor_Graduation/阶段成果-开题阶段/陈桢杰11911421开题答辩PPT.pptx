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8288000" cy="10287000"/>
  <p:notesSz cx="6858000" cy="9144000"/>
  <p:embeddedFontLst>
    <p:embeddedFont>
      <p:font typeface="字由点字典黑 Bold" panose="00020600040101010101" charset="-122"/>
      <p:regular r:id="rId24"/>
    </p:embeddedFont>
    <p:embeddedFont>
      <p:font typeface="Calibri" panose="020F0502020204030204"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font" Target="fonts/font5.fntdata"/><Relationship Id="rId27" Type="http://schemas.openxmlformats.org/officeDocument/2006/relationships/font" Target="fonts/font4.fntdata"/><Relationship Id="rId26" Type="http://schemas.openxmlformats.org/officeDocument/2006/relationships/font" Target="fonts/font3.fntdata"/><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image" Target="../media/image16.svg"/><Relationship Id="rId7" Type="http://schemas.openxmlformats.org/officeDocument/2006/relationships/image" Target="../media/image15.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svg"/><Relationship Id="rId13" Type="http://schemas.openxmlformats.org/officeDocument/2006/relationships/slideLayout" Target="../slideLayouts/slideLayout7.xml"/><Relationship Id="rId12" Type="http://schemas.openxmlformats.org/officeDocument/2006/relationships/image" Target="../media/image20.svg"/><Relationship Id="rId11" Type="http://schemas.openxmlformats.org/officeDocument/2006/relationships/image" Target="../media/image19.png"/><Relationship Id="rId10" Type="http://schemas.openxmlformats.org/officeDocument/2006/relationships/image" Target="../media/image18.sv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2.svg"/><Relationship Id="rId1" Type="http://schemas.openxmlformats.org/officeDocument/2006/relationships/image" Target="../media/image2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5.jpeg"/><Relationship Id="rId1" Type="http://schemas.openxmlformats.org/officeDocument/2006/relationships/image" Target="../media/image24.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7.jpeg"/><Relationship Id="rId1" Type="http://schemas.openxmlformats.org/officeDocument/2006/relationships/image" Target="../media/image26.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9.png"/><Relationship Id="rId1"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591050" y="3390900"/>
            <a:ext cx="9105265" cy="610235"/>
          </a:xfrm>
          <a:prstGeom prst="rect">
            <a:avLst/>
          </a:prstGeom>
        </p:spPr>
        <p:txBody>
          <a:bodyPr wrap="square" lIns="0" tIns="0" rIns="0" bIns="0" rtlCol="0" anchor="t">
            <a:spAutoFit/>
          </a:bodyPr>
          <a:lstStyle/>
          <a:p>
            <a:pPr algn="ctr">
              <a:lnSpc>
                <a:spcPts val="4760"/>
              </a:lnSpc>
              <a:spcBef>
                <a:spcPct val="0"/>
              </a:spcBef>
            </a:pPr>
            <a:r>
              <a:rPr lang="en-US" sz="34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面向下一代投资者的投资账本软件设计与实现</a:t>
            </a:r>
            <a:endParaRPr lang="en-US" sz="34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endParaRPr>
          </a:p>
        </p:txBody>
      </p:sp>
      <p:sp>
        <p:nvSpPr>
          <p:cNvPr id="3" name="TextBox 3"/>
          <p:cNvSpPr txBox="1"/>
          <p:nvPr/>
        </p:nvSpPr>
        <p:spPr>
          <a:xfrm>
            <a:off x="8743950" y="6607878"/>
            <a:ext cx="800100"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陈桢杰</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4" name="TextBox 4"/>
          <p:cNvSpPr txBox="1"/>
          <p:nvPr/>
        </p:nvSpPr>
        <p:spPr>
          <a:xfrm>
            <a:off x="7550785" y="5895340"/>
            <a:ext cx="2990215" cy="394970"/>
          </a:xfrm>
          <a:prstGeom prst="rect">
            <a:avLst/>
          </a:prstGeom>
        </p:spPr>
        <p:txBody>
          <a:bodyPr wrap="square" lIns="0" tIns="0" rIns="0" bIns="0" rtlCol="0" anchor="t">
            <a:spAutoFit/>
          </a:bodyPr>
          <a:lstStyle/>
          <a:p>
            <a:pPr algn="ctr">
              <a:lnSpc>
                <a:spcPts val="3080"/>
              </a:lnSpc>
              <a:spcBef>
                <a:spcPct val="0"/>
              </a:spcBef>
            </a:pPr>
            <a:r>
              <a:rPr lang="en-US" sz="22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指导老师：郑晓晨老师</a:t>
            </a:r>
            <a:endParaRPr lang="en-US" sz="22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89621">
            <a:off x="-669353" y="7756364"/>
            <a:ext cx="7843513" cy="1875049"/>
          </a:xfrm>
          <a:custGeom>
            <a:avLst/>
            <a:gdLst/>
            <a:ahLst/>
            <a:cxnLst/>
            <a:rect l="l" t="t" r="r" b="b"/>
            <a:pathLst>
              <a:path w="7843513" h="1875049">
                <a:moveTo>
                  <a:pt x="0" y="0"/>
                </a:moveTo>
                <a:lnTo>
                  <a:pt x="7843513" y="0"/>
                </a:lnTo>
                <a:lnTo>
                  <a:pt x="7843513" y="1875049"/>
                </a:lnTo>
                <a:lnTo>
                  <a:pt x="0" y="1875049"/>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509203" y="371370"/>
            <a:ext cx="2743200" cy="405764"/>
          </a:xfrm>
          <a:prstGeom prst="rect">
            <a:avLst/>
          </a:prstGeom>
        </p:spPr>
        <p:txBody>
          <a:bodyPr lIns="0" tIns="0" rIns="0" bIns="0" rtlCol="0" anchor="t">
            <a:spAutoFit/>
          </a:bodyPr>
          <a:lstStyle/>
          <a:p>
            <a:pPr algn="ctr">
              <a:lnSpc>
                <a:spcPts val="3360"/>
              </a:lnSpc>
              <a:spcBef>
                <a:spcPct val="0"/>
              </a:spcBef>
            </a:pPr>
            <a:r>
              <a:rPr lang="en-US" sz="24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课题背景和涉及领域</a:t>
            </a:r>
            <a:endParaRPr lang="en-US" sz="24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endParaRPr>
          </a:p>
        </p:txBody>
      </p:sp>
      <p:grpSp>
        <p:nvGrpSpPr>
          <p:cNvPr id="4" name="Group 4"/>
          <p:cNvGrpSpPr/>
          <p:nvPr/>
        </p:nvGrpSpPr>
        <p:grpSpPr>
          <a:xfrm rot="0">
            <a:off x="1642164" y="1851354"/>
            <a:ext cx="9587868" cy="477278"/>
            <a:chOff x="0" y="0"/>
            <a:chExt cx="12783825" cy="636371"/>
          </a:xfrm>
        </p:grpSpPr>
        <p:grpSp>
          <p:nvGrpSpPr>
            <p:cNvPr id="5" name="Group 5"/>
            <p:cNvGrpSpPr/>
            <p:nvPr/>
          </p:nvGrpSpPr>
          <p:grpSpPr>
            <a:xfrm rot="0">
              <a:off x="0" y="0"/>
              <a:ext cx="636371" cy="636371"/>
              <a:chOff x="0" y="0"/>
              <a:chExt cx="812800" cy="812800"/>
            </a:xfrm>
          </p:grpSpPr>
          <p:sp>
            <p:nvSpPr>
              <p:cNvPr id="6" name="Freeform 6"/>
              <p:cNvSpPr/>
              <p:nvPr/>
            </p:nvSpPr>
            <p:spPr>
              <a:xfrm>
                <a:off x="0" y="0"/>
                <a:ext cx="812800" cy="812800"/>
              </a:xfrm>
              <a:custGeom>
                <a:avLst/>
                <a:gdLst/>
                <a:ahLst/>
                <a:cxnLst/>
                <a:rect l="l" t="t" r="r" b="b"/>
                <a:pathLst>
                  <a:path w="812800" h="812800">
                    <a:moveTo>
                      <a:pt x="510137" y="0"/>
                    </a:moveTo>
                    <a:lnTo>
                      <a:pt x="302663" y="0"/>
                    </a:lnTo>
                    <a:cubicBezTo>
                      <a:pt x="275787" y="0"/>
                      <a:pt x="254000" y="21787"/>
                      <a:pt x="254000" y="48663"/>
                    </a:cubicBezTo>
                    <a:lnTo>
                      <a:pt x="254000" y="205337"/>
                    </a:lnTo>
                    <a:cubicBezTo>
                      <a:pt x="254000" y="232213"/>
                      <a:pt x="232213" y="254000"/>
                      <a:pt x="205337" y="254000"/>
                    </a:cubicBezTo>
                    <a:lnTo>
                      <a:pt x="48663" y="254000"/>
                    </a:lnTo>
                    <a:cubicBezTo>
                      <a:pt x="21787" y="254000"/>
                      <a:pt x="0" y="275787"/>
                      <a:pt x="0" y="302663"/>
                    </a:cubicBezTo>
                    <a:lnTo>
                      <a:pt x="0" y="510137"/>
                    </a:lnTo>
                    <a:cubicBezTo>
                      <a:pt x="0" y="537013"/>
                      <a:pt x="21787" y="558800"/>
                      <a:pt x="48663" y="558800"/>
                    </a:cubicBezTo>
                    <a:lnTo>
                      <a:pt x="205337" y="558800"/>
                    </a:lnTo>
                    <a:cubicBezTo>
                      <a:pt x="232213" y="558800"/>
                      <a:pt x="254000" y="580587"/>
                      <a:pt x="254000" y="607463"/>
                    </a:cubicBezTo>
                    <a:lnTo>
                      <a:pt x="254000" y="764137"/>
                    </a:lnTo>
                    <a:cubicBezTo>
                      <a:pt x="254000" y="791013"/>
                      <a:pt x="275787" y="812800"/>
                      <a:pt x="302663" y="812800"/>
                    </a:cubicBezTo>
                    <a:lnTo>
                      <a:pt x="510137" y="812800"/>
                    </a:lnTo>
                    <a:cubicBezTo>
                      <a:pt x="537013" y="812800"/>
                      <a:pt x="558800" y="791013"/>
                      <a:pt x="558800" y="764137"/>
                    </a:cubicBezTo>
                    <a:lnTo>
                      <a:pt x="558800" y="607463"/>
                    </a:lnTo>
                    <a:cubicBezTo>
                      <a:pt x="558800" y="580587"/>
                      <a:pt x="580587" y="558800"/>
                      <a:pt x="607463" y="558800"/>
                    </a:cubicBezTo>
                    <a:lnTo>
                      <a:pt x="764137" y="558800"/>
                    </a:lnTo>
                    <a:cubicBezTo>
                      <a:pt x="791013" y="558800"/>
                      <a:pt x="812800" y="537013"/>
                      <a:pt x="812800" y="510137"/>
                    </a:cubicBezTo>
                    <a:lnTo>
                      <a:pt x="812800" y="302663"/>
                    </a:lnTo>
                    <a:cubicBezTo>
                      <a:pt x="812800" y="275787"/>
                      <a:pt x="791013" y="254000"/>
                      <a:pt x="764137" y="254000"/>
                    </a:cubicBezTo>
                    <a:lnTo>
                      <a:pt x="607463" y="254000"/>
                    </a:lnTo>
                    <a:cubicBezTo>
                      <a:pt x="580587" y="254000"/>
                      <a:pt x="558800" y="232213"/>
                      <a:pt x="558800" y="205337"/>
                    </a:cubicBezTo>
                    <a:lnTo>
                      <a:pt x="558800" y="48663"/>
                    </a:lnTo>
                    <a:cubicBezTo>
                      <a:pt x="558800" y="21787"/>
                      <a:pt x="537013" y="0"/>
                      <a:pt x="510137" y="0"/>
                    </a:cubicBezTo>
                    <a:close/>
                  </a:path>
                </a:pathLst>
              </a:custGeom>
              <a:solidFill>
                <a:srgbClr val="FFDE59"/>
              </a:solidFill>
            </p:spPr>
          </p:sp>
          <p:sp>
            <p:nvSpPr>
              <p:cNvPr id="7" name="TextBox 7"/>
              <p:cNvSpPr txBox="1"/>
              <p:nvPr/>
            </p:nvSpPr>
            <p:spPr>
              <a:xfrm>
                <a:off x="190500" y="142875"/>
                <a:ext cx="431800" cy="479425"/>
              </a:xfrm>
              <a:prstGeom prst="rect">
                <a:avLst/>
              </a:prstGeom>
            </p:spPr>
            <p:txBody>
              <a:bodyPr lIns="50800" tIns="50800" rIns="50800" bIns="50800" rtlCol="0" anchor="ctr"/>
              <a:lstStyle/>
              <a:p>
                <a:pPr algn="ctr">
                  <a:lnSpc>
                    <a:spcPts val="2940"/>
                  </a:lnSpc>
                </a:pPr>
              </a:p>
            </p:txBody>
          </p:sp>
        </p:grpSp>
        <p:sp>
          <p:nvSpPr>
            <p:cNvPr id="8" name="TextBox 8"/>
            <p:cNvSpPr txBox="1"/>
            <p:nvPr/>
          </p:nvSpPr>
          <p:spPr>
            <a:xfrm>
              <a:off x="1039191" y="72919"/>
              <a:ext cx="11744634" cy="452433"/>
            </a:xfrm>
            <a:prstGeom prst="rect">
              <a:avLst/>
            </a:prstGeom>
          </p:spPr>
          <p:txBody>
            <a:bodyPr lIns="0" tIns="0" rIns="0" bIns="0" rtlCol="0" anchor="t">
              <a:spAutoFit/>
            </a:bodyPr>
            <a:lstStyle/>
            <a:p>
              <a:pPr algn="ctr">
                <a:lnSpc>
                  <a:spcPts val="2870"/>
                </a:lnSpc>
                <a:spcBef>
                  <a:spcPct val="0"/>
                </a:spcBef>
              </a:pP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城镇化进程基本完成、资本市场将逐步取代房地产市场成为新</a:t>
              </a: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的经济"蓄水池"</a:t>
              </a:r>
              <a:endPar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grpSp>
      <p:grpSp>
        <p:nvGrpSpPr>
          <p:cNvPr id="9" name="Group 9"/>
          <p:cNvGrpSpPr/>
          <p:nvPr/>
        </p:nvGrpSpPr>
        <p:grpSpPr>
          <a:xfrm rot="0">
            <a:off x="1642164" y="3613673"/>
            <a:ext cx="8334167" cy="477278"/>
            <a:chOff x="0" y="0"/>
            <a:chExt cx="11112222" cy="636371"/>
          </a:xfrm>
        </p:grpSpPr>
        <p:grpSp>
          <p:nvGrpSpPr>
            <p:cNvPr id="10" name="Group 10"/>
            <p:cNvGrpSpPr/>
            <p:nvPr/>
          </p:nvGrpSpPr>
          <p:grpSpPr>
            <a:xfrm rot="0">
              <a:off x="0" y="0"/>
              <a:ext cx="636371" cy="636371"/>
              <a:chOff x="0" y="0"/>
              <a:chExt cx="812800" cy="812800"/>
            </a:xfrm>
          </p:grpSpPr>
          <p:sp>
            <p:nvSpPr>
              <p:cNvPr id="11" name="Freeform 11"/>
              <p:cNvSpPr/>
              <p:nvPr/>
            </p:nvSpPr>
            <p:spPr>
              <a:xfrm>
                <a:off x="0" y="0"/>
                <a:ext cx="812800" cy="812800"/>
              </a:xfrm>
              <a:custGeom>
                <a:avLst/>
                <a:gdLst/>
                <a:ahLst/>
                <a:cxnLst/>
                <a:rect l="l" t="t" r="r" b="b"/>
                <a:pathLst>
                  <a:path w="812800" h="812800">
                    <a:moveTo>
                      <a:pt x="510137" y="0"/>
                    </a:moveTo>
                    <a:lnTo>
                      <a:pt x="302663" y="0"/>
                    </a:lnTo>
                    <a:cubicBezTo>
                      <a:pt x="275787" y="0"/>
                      <a:pt x="254000" y="21787"/>
                      <a:pt x="254000" y="48663"/>
                    </a:cubicBezTo>
                    <a:lnTo>
                      <a:pt x="254000" y="205337"/>
                    </a:lnTo>
                    <a:cubicBezTo>
                      <a:pt x="254000" y="232213"/>
                      <a:pt x="232213" y="254000"/>
                      <a:pt x="205337" y="254000"/>
                    </a:cubicBezTo>
                    <a:lnTo>
                      <a:pt x="48663" y="254000"/>
                    </a:lnTo>
                    <a:cubicBezTo>
                      <a:pt x="21787" y="254000"/>
                      <a:pt x="0" y="275787"/>
                      <a:pt x="0" y="302663"/>
                    </a:cubicBezTo>
                    <a:lnTo>
                      <a:pt x="0" y="510137"/>
                    </a:lnTo>
                    <a:cubicBezTo>
                      <a:pt x="0" y="537013"/>
                      <a:pt x="21787" y="558800"/>
                      <a:pt x="48663" y="558800"/>
                    </a:cubicBezTo>
                    <a:lnTo>
                      <a:pt x="205337" y="558800"/>
                    </a:lnTo>
                    <a:cubicBezTo>
                      <a:pt x="232213" y="558800"/>
                      <a:pt x="254000" y="580587"/>
                      <a:pt x="254000" y="607463"/>
                    </a:cubicBezTo>
                    <a:lnTo>
                      <a:pt x="254000" y="764137"/>
                    </a:lnTo>
                    <a:cubicBezTo>
                      <a:pt x="254000" y="791013"/>
                      <a:pt x="275787" y="812800"/>
                      <a:pt x="302663" y="812800"/>
                    </a:cubicBezTo>
                    <a:lnTo>
                      <a:pt x="510137" y="812800"/>
                    </a:lnTo>
                    <a:cubicBezTo>
                      <a:pt x="537013" y="812800"/>
                      <a:pt x="558800" y="791013"/>
                      <a:pt x="558800" y="764137"/>
                    </a:cubicBezTo>
                    <a:lnTo>
                      <a:pt x="558800" y="607463"/>
                    </a:lnTo>
                    <a:cubicBezTo>
                      <a:pt x="558800" y="580587"/>
                      <a:pt x="580587" y="558800"/>
                      <a:pt x="607463" y="558800"/>
                    </a:cubicBezTo>
                    <a:lnTo>
                      <a:pt x="764137" y="558800"/>
                    </a:lnTo>
                    <a:cubicBezTo>
                      <a:pt x="791013" y="558800"/>
                      <a:pt x="812800" y="537013"/>
                      <a:pt x="812800" y="510137"/>
                    </a:cubicBezTo>
                    <a:lnTo>
                      <a:pt x="812800" y="302663"/>
                    </a:lnTo>
                    <a:cubicBezTo>
                      <a:pt x="812800" y="275787"/>
                      <a:pt x="791013" y="254000"/>
                      <a:pt x="764137" y="254000"/>
                    </a:cubicBezTo>
                    <a:lnTo>
                      <a:pt x="607463" y="254000"/>
                    </a:lnTo>
                    <a:cubicBezTo>
                      <a:pt x="580587" y="254000"/>
                      <a:pt x="558800" y="232213"/>
                      <a:pt x="558800" y="205337"/>
                    </a:cubicBezTo>
                    <a:lnTo>
                      <a:pt x="558800" y="48663"/>
                    </a:lnTo>
                    <a:cubicBezTo>
                      <a:pt x="558800" y="21787"/>
                      <a:pt x="537013" y="0"/>
                      <a:pt x="510137" y="0"/>
                    </a:cubicBezTo>
                    <a:close/>
                  </a:path>
                </a:pathLst>
              </a:custGeom>
              <a:solidFill>
                <a:srgbClr val="FFDE59"/>
              </a:solidFill>
            </p:spPr>
          </p:sp>
          <p:sp>
            <p:nvSpPr>
              <p:cNvPr id="12" name="TextBox 12"/>
              <p:cNvSpPr txBox="1"/>
              <p:nvPr/>
            </p:nvSpPr>
            <p:spPr>
              <a:xfrm>
                <a:off x="190500" y="142875"/>
                <a:ext cx="431800" cy="479425"/>
              </a:xfrm>
              <a:prstGeom prst="rect">
                <a:avLst/>
              </a:prstGeom>
            </p:spPr>
            <p:txBody>
              <a:bodyPr lIns="50800" tIns="50800" rIns="50800" bIns="50800" rtlCol="0" anchor="ctr"/>
              <a:lstStyle/>
              <a:p>
                <a:pPr algn="ctr">
                  <a:lnSpc>
                    <a:spcPts val="2940"/>
                  </a:lnSpc>
                </a:pPr>
              </a:p>
            </p:txBody>
          </p:sp>
        </p:grpSp>
        <p:sp>
          <p:nvSpPr>
            <p:cNvPr id="13" name="TextBox 13"/>
            <p:cNvSpPr txBox="1"/>
            <p:nvPr/>
          </p:nvSpPr>
          <p:spPr>
            <a:xfrm>
              <a:off x="1039191" y="72919"/>
              <a:ext cx="10073031" cy="452433"/>
            </a:xfrm>
            <a:prstGeom prst="rect">
              <a:avLst/>
            </a:prstGeom>
          </p:spPr>
          <p:txBody>
            <a:bodyPr lIns="0" tIns="0" rIns="0" bIns="0" rtlCol="0" anchor="t">
              <a:spAutoFit/>
            </a:bodyPr>
            <a:lstStyle/>
            <a:p>
              <a:pPr algn="ctr">
                <a:lnSpc>
                  <a:spcPts val="2870"/>
                </a:lnSpc>
                <a:spcBef>
                  <a:spcPct val="0"/>
                </a:spcBef>
              </a:pP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科技创新拉动的高质量增长，由“人口红利”转向“工程师红利”</a:t>
              </a:r>
              <a:endPar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grpSp>
      <p:grpSp>
        <p:nvGrpSpPr>
          <p:cNvPr id="14" name="Group 14"/>
          <p:cNvGrpSpPr/>
          <p:nvPr/>
        </p:nvGrpSpPr>
        <p:grpSpPr>
          <a:xfrm rot="0">
            <a:off x="1642164" y="5375992"/>
            <a:ext cx="13544382" cy="671797"/>
            <a:chOff x="0" y="0"/>
            <a:chExt cx="18059175" cy="895730"/>
          </a:xfrm>
        </p:grpSpPr>
        <p:grpSp>
          <p:nvGrpSpPr>
            <p:cNvPr id="15" name="Group 15"/>
            <p:cNvGrpSpPr/>
            <p:nvPr/>
          </p:nvGrpSpPr>
          <p:grpSpPr>
            <a:xfrm rot="0">
              <a:off x="0" y="0"/>
              <a:ext cx="636371" cy="636371"/>
              <a:chOff x="0" y="0"/>
              <a:chExt cx="812800" cy="812800"/>
            </a:xfrm>
          </p:grpSpPr>
          <p:sp>
            <p:nvSpPr>
              <p:cNvPr id="16" name="Freeform 16"/>
              <p:cNvSpPr/>
              <p:nvPr/>
            </p:nvSpPr>
            <p:spPr>
              <a:xfrm>
                <a:off x="0" y="0"/>
                <a:ext cx="812800" cy="812800"/>
              </a:xfrm>
              <a:custGeom>
                <a:avLst/>
                <a:gdLst/>
                <a:ahLst/>
                <a:cxnLst/>
                <a:rect l="l" t="t" r="r" b="b"/>
                <a:pathLst>
                  <a:path w="812800" h="812800">
                    <a:moveTo>
                      <a:pt x="510137" y="0"/>
                    </a:moveTo>
                    <a:lnTo>
                      <a:pt x="302663" y="0"/>
                    </a:lnTo>
                    <a:cubicBezTo>
                      <a:pt x="275787" y="0"/>
                      <a:pt x="254000" y="21787"/>
                      <a:pt x="254000" y="48663"/>
                    </a:cubicBezTo>
                    <a:lnTo>
                      <a:pt x="254000" y="205337"/>
                    </a:lnTo>
                    <a:cubicBezTo>
                      <a:pt x="254000" y="232213"/>
                      <a:pt x="232213" y="254000"/>
                      <a:pt x="205337" y="254000"/>
                    </a:cubicBezTo>
                    <a:lnTo>
                      <a:pt x="48663" y="254000"/>
                    </a:lnTo>
                    <a:cubicBezTo>
                      <a:pt x="21787" y="254000"/>
                      <a:pt x="0" y="275787"/>
                      <a:pt x="0" y="302663"/>
                    </a:cubicBezTo>
                    <a:lnTo>
                      <a:pt x="0" y="510137"/>
                    </a:lnTo>
                    <a:cubicBezTo>
                      <a:pt x="0" y="537013"/>
                      <a:pt x="21787" y="558800"/>
                      <a:pt x="48663" y="558800"/>
                    </a:cubicBezTo>
                    <a:lnTo>
                      <a:pt x="205337" y="558800"/>
                    </a:lnTo>
                    <a:cubicBezTo>
                      <a:pt x="232213" y="558800"/>
                      <a:pt x="254000" y="580587"/>
                      <a:pt x="254000" y="607463"/>
                    </a:cubicBezTo>
                    <a:lnTo>
                      <a:pt x="254000" y="764137"/>
                    </a:lnTo>
                    <a:cubicBezTo>
                      <a:pt x="254000" y="791013"/>
                      <a:pt x="275787" y="812800"/>
                      <a:pt x="302663" y="812800"/>
                    </a:cubicBezTo>
                    <a:lnTo>
                      <a:pt x="510137" y="812800"/>
                    </a:lnTo>
                    <a:cubicBezTo>
                      <a:pt x="537013" y="812800"/>
                      <a:pt x="558800" y="791013"/>
                      <a:pt x="558800" y="764137"/>
                    </a:cubicBezTo>
                    <a:lnTo>
                      <a:pt x="558800" y="607463"/>
                    </a:lnTo>
                    <a:cubicBezTo>
                      <a:pt x="558800" y="580587"/>
                      <a:pt x="580587" y="558800"/>
                      <a:pt x="607463" y="558800"/>
                    </a:cubicBezTo>
                    <a:lnTo>
                      <a:pt x="764137" y="558800"/>
                    </a:lnTo>
                    <a:cubicBezTo>
                      <a:pt x="791013" y="558800"/>
                      <a:pt x="812800" y="537013"/>
                      <a:pt x="812800" y="510137"/>
                    </a:cubicBezTo>
                    <a:lnTo>
                      <a:pt x="812800" y="302663"/>
                    </a:lnTo>
                    <a:cubicBezTo>
                      <a:pt x="812800" y="275787"/>
                      <a:pt x="791013" y="254000"/>
                      <a:pt x="764137" y="254000"/>
                    </a:cubicBezTo>
                    <a:lnTo>
                      <a:pt x="607463" y="254000"/>
                    </a:lnTo>
                    <a:cubicBezTo>
                      <a:pt x="580587" y="254000"/>
                      <a:pt x="558800" y="232213"/>
                      <a:pt x="558800" y="205337"/>
                    </a:cubicBezTo>
                    <a:lnTo>
                      <a:pt x="558800" y="48663"/>
                    </a:lnTo>
                    <a:cubicBezTo>
                      <a:pt x="558800" y="21787"/>
                      <a:pt x="537013" y="0"/>
                      <a:pt x="510137" y="0"/>
                    </a:cubicBezTo>
                    <a:close/>
                  </a:path>
                </a:pathLst>
              </a:custGeom>
              <a:solidFill>
                <a:srgbClr val="FFDE59"/>
              </a:solidFill>
            </p:spPr>
          </p:sp>
          <p:sp>
            <p:nvSpPr>
              <p:cNvPr id="17" name="TextBox 17"/>
              <p:cNvSpPr txBox="1"/>
              <p:nvPr/>
            </p:nvSpPr>
            <p:spPr>
              <a:xfrm>
                <a:off x="190500" y="142875"/>
                <a:ext cx="431800" cy="479425"/>
              </a:xfrm>
              <a:prstGeom prst="rect">
                <a:avLst/>
              </a:prstGeom>
            </p:spPr>
            <p:txBody>
              <a:bodyPr lIns="50800" tIns="50800" rIns="50800" bIns="50800" rtlCol="0" anchor="ctr"/>
              <a:lstStyle/>
              <a:p>
                <a:pPr algn="ctr">
                  <a:lnSpc>
                    <a:spcPts val="2940"/>
                  </a:lnSpc>
                </a:pPr>
              </a:p>
            </p:txBody>
          </p:sp>
        </p:grpSp>
        <p:sp>
          <p:nvSpPr>
            <p:cNvPr id="18" name="TextBox 18"/>
            <p:cNvSpPr txBox="1"/>
            <p:nvPr/>
          </p:nvSpPr>
          <p:spPr>
            <a:xfrm>
              <a:off x="1039191" y="-38100"/>
              <a:ext cx="17019984" cy="933830"/>
            </a:xfrm>
            <a:prstGeom prst="rect">
              <a:avLst/>
            </a:prstGeom>
          </p:spPr>
          <p:txBody>
            <a:bodyPr lIns="0" tIns="0" rIns="0" bIns="0" rtlCol="0" anchor="t">
              <a:spAutoFit/>
            </a:bodyPr>
            <a:lstStyle/>
            <a:p>
              <a:pPr algn="l">
                <a:lnSpc>
                  <a:spcPts val="2870"/>
                </a:lnSpc>
              </a:pP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过去国内金融市场发展、建设的不完善、不健全，给一代人留下的投资观念是广泛的、深刻的</a:t>
              </a:r>
              <a:endPar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870"/>
                </a:lnSpc>
                <a:spcBef>
                  <a:spcPct val="0"/>
                </a:spcBef>
              </a:pP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但在产业结构、经济增长模式的转向的当下，市场机制、监管机制的规范与完善是下一阶段经济增长的必然要求</a:t>
              </a:r>
              <a:endPar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grpSp>
      <p:sp>
        <p:nvSpPr>
          <p:cNvPr id="19" name="TextBox 19"/>
          <p:cNvSpPr txBox="1"/>
          <p:nvPr/>
        </p:nvSpPr>
        <p:spPr>
          <a:xfrm>
            <a:off x="7163435" y="7115175"/>
            <a:ext cx="4295140" cy="466725"/>
          </a:xfrm>
          <a:prstGeom prst="rect">
            <a:avLst/>
          </a:prstGeom>
        </p:spPr>
        <p:txBody>
          <a:bodyPr wrap="square" lIns="0" tIns="0" rIns="0" bIns="0" rtlCol="0" anchor="t">
            <a:spAutoFit/>
          </a:bodyPr>
          <a:lstStyle/>
          <a:p>
            <a:pPr algn="ctr">
              <a:lnSpc>
                <a:spcPts val="3640"/>
              </a:lnSpc>
              <a:spcBef>
                <a:spcPct val="0"/>
              </a:spcBef>
            </a:pPr>
            <a:r>
              <a:rPr lang="en-US" sz="2600">
                <a:solidFill>
                  <a:srgbClr val="7386A3"/>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大众参与市场的积极性提高</a:t>
            </a:r>
            <a:endParaRPr lang="en-US" sz="2600">
              <a:solidFill>
                <a:srgbClr val="7386A3"/>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58309" y="2893920"/>
            <a:ext cx="2789115" cy="6356958"/>
          </a:xfrm>
          <a:custGeom>
            <a:avLst/>
            <a:gdLst/>
            <a:ahLst/>
            <a:cxnLst/>
            <a:rect l="l" t="t" r="r" b="b"/>
            <a:pathLst>
              <a:path w="2789115" h="6356958">
                <a:moveTo>
                  <a:pt x="0" y="0"/>
                </a:moveTo>
                <a:lnTo>
                  <a:pt x="2789115" y="0"/>
                </a:lnTo>
                <a:lnTo>
                  <a:pt x="2789115" y="6356958"/>
                </a:lnTo>
                <a:lnTo>
                  <a:pt x="0" y="6356958"/>
                </a:lnTo>
                <a:lnTo>
                  <a:pt x="0" y="0"/>
                </a:lnTo>
                <a:close/>
              </a:path>
            </a:pathLst>
          </a:custGeom>
          <a:blipFill>
            <a:blip r:embed="rId1"/>
            <a:stretch>
              <a:fillRect/>
            </a:stretch>
          </a:blipFill>
        </p:spPr>
      </p:sp>
      <p:sp>
        <p:nvSpPr>
          <p:cNvPr id="3" name="Freeform 3"/>
          <p:cNvSpPr/>
          <p:nvPr/>
        </p:nvSpPr>
        <p:spPr>
          <a:xfrm>
            <a:off x="7495190" y="2893920"/>
            <a:ext cx="2789115" cy="6356958"/>
          </a:xfrm>
          <a:custGeom>
            <a:avLst/>
            <a:gdLst/>
            <a:ahLst/>
            <a:cxnLst/>
            <a:rect l="l" t="t" r="r" b="b"/>
            <a:pathLst>
              <a:path w="2789115" h="6356958">
                <a:moveTo>
                  <a:pt x="0" y="0"/>
                </a:moveTo>
                <a:lnTo>
                  <a:pt x="2789115" y="0"/>
                </a:lnTo>
                <a:lnTo>
                  <a:pt x="2789115" y="6356958"/>
                </a:lnTo>
                <a:lnTo>
                  <a:pt x="0" y="6356958"/>
                </a:lnTo>
                <a:lnTo>
                  <a:pt x="0" y="0"/>
                </a:lnTo>
                <a:close/>
              </a:path>
            </a:pathLst>
          </a:custGeom>
          <a:blipFill>
            <a:blip r:embed="rId2"/>
            <a:stretch>
              <a:fillRect/>
            </a:stretch>
          </a:blipFill>
        </p:spPr>
      </p:sp>
      <p:sp>
        <p:nvSpPr>
          <p:cNvPr id="4" name="Freeform 4"/>
          <p:cNvSpPr/>
          <p:nvPr/>
        </p:nvSpPr>
        <p:spPr>
          <a:xfrm>
            <a:off x="1589985" y="2893920"/>
            <a:ext cx="2789115" cy="6356958"/>
          </a:xfrm>
          <a:custGeom>
            <a:avLst/>
            <a:gdLst/>
            <a:ahLst/>
            <a:cxnLst/>
            <a:rect l="l" t="t" r="r" b="b"/>
            <a:pathLst>
              <a:path w="2789115" h="6356958">
                <a:moveTo>
                  <a:pt x="0" y="0"/>
                </a:moveTo>
                <a:lnTo>
                  <a:pt x="2789116" y="0"/>
                </a:lnTo>
                <a:lnTo>
                  <a:pt x="2789116" y="6356958"/>
                </a:lnTo>
                <a:lnTo>
                  <a:pt x="0" y="6356958"/>
                </a:lnTo>
                <a:lnTo>
                  <a:pt x="0" y="0"/>
                </a:lnTo>
                <a:close/>
              </a:path>
            </a:pathLst>
          </a:custGeom>
          <a:blipFill>
            <a:blip r:embed="rId3"/>
            <a:stretch>
              <a:fillRect/>
            </a:stretch>
          </a:blipFill>
        </p:spPr>
      </p:sp>
      <p:sp>
        <p:nvSpPr>
          <p:cNvPr id="5" name="TextBox 5"/>
          <p:cNvSpPr txBox="1"/>
          <p:nvPr/>
        </p:nvSpPr>
        <p:spPr>
          <a:xfrm>
            <a:off x="7936590" y="1750906"/>
            <a:ext cx="1600200"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银行理财板块</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6" name="TextBox 6"/>
          <p:cNvSpPr txBox="1"/>
          <p:nvPr/>
        </p:nvSpPr>
        <p:spPr>
          <a:xfrm>
            <a:off x="13443738" y="1750906"/>
            <a:ext cx="3303687"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支付宝/微信等消费支付入口</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7" name="TextBox 7"/>
          <p:cNvSpPr txBox="1"/>
          <p:nvPr/>
        </p:nvSpPr>
        <p:spPr>
          <a:xfrm>
            <a:off x="1792755" y="1750906"/>
            <a:ext cx="2236887"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券商/基金专业软件</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grpSp>
        <p:nvGrpSpPr>
          <p:cNvPr id="8" name="Group 8"/>
          <p:cNvGrpSpPr/>
          <p:nvPr/>
        </p:nvGrpSpPr>
        <p:grpSpPr>
          <a:xfrm rot="0">
            <a:off x="1441493" y="2893920"/>
            <a:ext cx="3086100" cy="6534883"/>
            <a:chOff x="0" y="0"/>
            <a:chExt cx="812800" cy="1721121"/>
          </a:xfrm>
        </p:grpSpPr>
        <p:sp>
          <p:nvSpPr>
            <p:cNvPr id="9" name="Freeform 9"/>
            <p:cNvSpPr/>
            <p:nvPr/>
          </p:nvSpPr>
          <p:spPr>
            <a:xfrm>
              <a:off x="0" y="0"/>
              <a:ext cx="812800" cy="1721121"/>
            </a:xfrm>
            <a:custGeom>
              <a:avLst/>
              <a:gdLst/>
              <a:ahLst/>
              <a:cxnLst/>
              <a:rect l="l" t="t" r="r" b="b"/>
              <a:pathLst>
                <a:path w="812800" h="1721121">
                  <a:moveTo>
                    <a:pt x="0" y="0"/>
                  </a:moveTo>
                  <a:lnTo>
                    <a:pt x="812800" y="0"/>
                  </a:lnTo>
                  <a:lnTo>
                    <a:pt x="812800" y="1721121"/>
                  </a:lnTo>
                  <a:lnTo>
                    <a:pt x="0" y="1721121"/>
                  </a:lnTo>
                  <a:close/>
                </a:path>
              </a:pathLst>
            </a:custGeom>
            <a:solidFill>
              <a:srgbClr val="000000">
                <a:alpha val="0"/>
              </a:srgbClr>
            </a:solidFill>
            <a:ln w="47625" cap="sq">
              <a:solidFill>
                <a:srgbClr val="000000">
                  <a:alpha val="13725"/>
                </a:srgbClr>
              </a:solidFill>
              <a:prstDash val="solid"/>
              <a:miter/>
            </a:ln>
          </p:spPr>
        </p:sp>
        <p:sp>
          <p:nvSpPr>
            <p:cNvPr id="10" name="TextBox 10"/>
            <p:cNvSpPr txBox="1"/>
            <p:nvPr/>
          </p:nvSpPr>
          <p:spPr>
            <a:xfrm>
              <a:off x="0" y="-47625"/>
              <a:ext cx="812800" cy="1768746"/>
            </a:xfrm>
            <a:prstGeom prst="rect">
              <a:avLst/>
            </a:prstGeom>
          </p:spPr>
          <p:txBody>
            <a:bodyPr lIns="50800" tIns="50800" rIns="50800" bIns="50800" rtlCol="0" anchor="ctr"/>
            <a:lstStyle/>
            <a:p>
              <a:pPr algn="ctr">
                <a:lnSpc>
                  <a:spcPts val="2940"/>
                </a:lnSpc>
              </a:pPr>
            </a:p>
          </p:txBody>
        </p:sp>
      </p:grpSp>
      <p:grpSp>
        <p:nvGrpSpPr>
          <p:cNvPr id="11" name="Group 11"/>
          <p:cNvGrpSpPr/>
          <p:nvPr/>
        </p:nvGrpSpPr>
        <p:grpSpPr>
          <a:xfrm rot="0">
            <a:off x="7346698" y="2804957"/>
            <a:ext cx="3086100" cy="6534883"/>
            <a:chOff x="0" y="0"/>
            <a:chExt cx="812800" cy="1721121"/>
          </a:xfrm>
        </p:grpSpPr>
        <p:sp>
          <p:nvSpPr>
            <p:cNvPr id="12" name="Freeform 12"/>
            <p:cNvSpPr/>
            <p:nvPr/>
          </p:nvSpPr>
          <p:spPr>
            <a:xfrm>
              <a:off x="0" y="0"/>
              <a:ext cx="812800" cy="1721121"/>
            </a:xfrm>
            <a:custGeom>
              <a:avLst/>
              <a:gdLst/>
              <a:ahLst/>
              <a:cxnLst/>
              <a:rect l="l" t="t" r="r" b="b"/>
              <a:pathLst>
                <a:path w="812800" h="1721121">
                  <a:moveTo>
                    <a:pt x="0" y="0"/>
                  </a:moveTo>
                  <a:lnTo>
                    <a:pt x="812800" y="0"/>
                  </a:lnTo>
                  <a:lnTo>
                    <a:pt x="812800" y="1721121"/>
                  </a:lnTo>
                  <a:lnTo>
                    <a:pt x="0" y="1721121"/>
                  </a:lnTo>
                  <a:close/>
                </a:path>
              </a:pathLst>
            </a:custGeom>
            <a:solidFill>
              <a:srgbClr val="000000">
                <a:alpha val="0"/>
              </a:srgbClr>
            </a:solidFill>
            <a:ln w="47625" cap="sq">
              <a:solidFill>
                <a:srgbClr val="000000">
                  <a:alpha val="13725"/>
                </a:srgbClr>
              </a:solidFill>
              <a:prstDash val="solid"/>
              <a:miter/>
            </a:ln>
          </p:spPr>
        </p:sp>
        <p:sp>
          <p:nvSpPr>
            <p:cNvPr id="13" name="TextBox 13"/>
            <p:cNvSpPr txBox="1"/>
            <p:nvPr/>
          </p:nvSpPr>
          <p:spPr>
            <a:xfrm>
              <a:off x="0" y="-47625"/>
              <a:ext cx="812800" cy="1768746"/>
            </a:xfrm>
            <a:prstGeom prst="rect">
              <a:avLst/>
            </a:prstGeom>
          </p:spPr>
          <p:txBody>
            <a:bodyPr lIns="50800" tIns="50800" rIns="50800" bIns="50800" rtlCol="0" anchor="ctr"/>
            <a:lstStyle/>
            <a:p>
              <a:pPr algn="ctr">
                <a:lnSpc>
                  <a:spcPts val="2940"/>
                </a:lnSpc>
              </a:pPr>
            </a:p>
          </p:txBody>
        </p:sp>
      </p:grpSp>
      <p:grpSp>
        <p:nvGrpSpPr>
          <p:cNvPr id="14" name="Group 14"/>
          <p:cNvGrpSpPr/>
          <p:nvPr/>
        </p:nvGrpSpPr>
        <p:grpSpPr>
          <a:xfrm rot="0">
            <a:off x="13888872" y="2804957"/>
            <a:ext cx="2957635" cy="6534883"/>
            <a:chOff x="0" y="0"/>
            <a:chExt cx="778966" cy="1721121"/>
          </a:xfrm>
        </p:grpSpPr>
        <p:sp>
          <p:nvSpPr>
            <p:cNvPr id="15" name="Freeform 15"/>
            <p:cNvSpPr/>
            <p:nvPr/>
          </p:nvSpPr>
          <p:spPr>
            <a:xfrm>
              <a:off x="0" y="0"/>
              <a:ext cx="778966" cy="1721121"/>
            </a:xfrm>
            <a:custGeom>
              <a:avLst/>
              <a:gdLst/>
              <a:ahLst/>
              <a:cxnLst/>
              <a:rect l="l" t="t" r="r" b="b"/>
              <a:pathLst>
                <a:path w="778966" h="1721121">
                  <a:moveTo>
                    <a:pt x="0" y="0"/>
                  </a:moveTo>
                  <a:lnTo>
                    <a:pt x="778966" y="0"/>
                  </a:lnTo>
                  <a:lnTo>
                    <a:pt x="778966" y="1721121"/>
                  </a:lnTo>
                  <a:lnTo>
                    <a:pt x="0" y="1721121"/>
                  </a:lnTo>
                  <a:close/>
                </a:path>
              </a:pathLst>
            </a:custGeom>
            <a:solidFill>
              <a:srgbClr val="000000">
                <a:alpha val="0"/>
              </a:srgbClr>
            </a:solidFill>
            <a:ln w="47625" cap="sq">
              <a:solidFill>
                <a:srgbClr val="000000">
                  <a:alpha val="13725"/>
                </a:srgbClr>
              </a:solidFill>
              <a:prstDash val="solid"/>
              <a:miter/>
            </a:ln>
          </p:spPr>
        </p:sp>
        <p:sp>
          <p:nvSpPr>
            <p:cNvPr id="16" name="TextBox 16"/>
            <p:cNvSpPr txBox="1"/>
            <p:nvPr/>
          </p:nvSpPr>
          <p:spPr>
            <a:xfrm>
              <a:off x="0" y="-47625"/>
              <a:ext cx="778966" cy="1768746"/>
            </a:xfrm>
            <a:prstGeom prst="rect">
              <a:avLst/>
            </a:prstGeom>
          </p:spPr>
          <p:txBody>
            <a:bodyPr lIns="50800" tIns="50800" rIns="50800" bIns="50800" rtlCol="0" anchor="ctr"/>
            <a:lstStyle/>
            <a:p>
              <a:pPr algn="ctr">
                <a:lnSpc>
                  <a:spcPts val="2940"/>
                </a:lnSpc>
              </a:pPr>
            </a:p>
          </p:txBody>
        </p:sp>
      </p:grpSp>
      <p:grpSp>
        <p:nvGrpSpPr>
          <p:cNvPr id="17" name="Group 17"/>
          <p:cNvGrpSpPr/>
          <p:nvPr/>
        </p:nvGrpSpPr>
        <p:grpSpPr>
          <a:xfrm rot="0">
            <a:off x="3397314" y="836660"/>
            <a:ext cx="477278" cy="477278"/>
            <a:chOff x="0" y="0"/>
            <a:chExt cx="812800" cy="812800"/>
          </a:xfrm>
        </p:grpSpPr>
        <p:sp>
          <p:nvSpPr>
            <p:cNvPr id="18" name="Freeform 18"/>
            <p:cNvSpPr/>
            <p:nvPr/>
          </p:nvSpPr>
          <p:spPr>
            <a:xfrm>
              <a:off x="0" y="0"/>
              <a:ext cx="812800" cy="812800"/>
            </a:xfrm>
            <a:custGeom>
              <a:avLst/>
              <a:gdLst/>
              <a:ahLst/>
              <a:cxnLst/>
              <a:rect l="l" t="t" r="r" b="b"/>
              <a:pathLst>
                <a:path w="812800" h="812800">
                  <a:moveTo>
                    <a:pt x="510137" y="0"/>
                  </a:moveTo>
                  <a:lnTo>
                    <a:pt x="302663" y="0"/>
                  </a:lnTo>
                  <a:cubicBezTo>
                    <a:pt x="275787" y="0"/>
                    <a:pt x="254000" y="21787"/>
                    <a:pt x="254000" y="48663"/>
                  </a:cubicBezTo>
                  <a:lnTo>
                    <a:pt x="254000" y="205337"/>
                  </a:lnTo>
                  <a:cubicBezTo>
                    <a:pt x="254000" y="232213"/>
                    <a:pt x="232213" y="254000"/>
                    <a:pt x="205337" y="254000"/>
                  </a:cubicBezTo>
                  <a:lnTo>
                    <a:pt x="48663" y="254000"/>
                  </a:lnTo>
                  <a:cubicBezTo>
                    <a:pt x="21787" y="254000"/>
                    <a:pt x="0" y="275787"/>
                    <a:pt x="0" y="302663"/>
                  </a:cubicBezTo>
                  <a:lnTo>
                    <a:pt x="0" y="510137"/>
                  </a:lnTo>
                  <a:cubicBezTo>
                    <a:pt x="0" y="537013"/>
                    <a:pt x="21787" y="558800"/>
                    <a:pt x="48663" y="558800"/>
                  </a:cubicBezTo>
                  <a:lnTo>
                    <a:pt x="205337" y="558800"/>
                  </a:lnTo>
                  <a:cubicBezTo>
                    <a:pt x="232213" y="558800"/>
                    <a:pt x="254000" y="580587"/>
                    <a:pt x="254000" y="607463"/>
                  </a:cubicBezTo>
                  <a:lnTo>
                    <a:pt x="254000" y="764137"/>
                  </a:lnTo>
                  <a:cubicBezTo>
                    <a:pt x="254000" y="791013"/>
                    <a:pt x="275787" y="812800"/>
                    <a:pt x="302663" y="812800"/>
                  </a:cubicBezTo>
                  <a:lnTo>
                    <a:pt x="510137" y="812800"/>
                  </a:lnTo>
                  <a:cubicBezTo>
                    <a:pt x="537013" y="812800"/>
                    <a:pt x="558800" y="791013"/>
                    <a:pt x="558800" y="764137"/>
                  </a:cubicBezTo>
                  <a:lnTo>
                    <a:pt x="558800" y="607463"/>
                  </a:lnTo>
                  <a:cubicBezTo>
                    <a:pt x="558800" y="580587"/>
                    <a:pt x="580587" y="558800"/>
                    <a:pt x="607463" y="558800"/>
                  </a:cubicBezTo>
                  <a:lnTo>
                    <a:pt x="764137" y="558800"/>
                  </a:lnTo>
                  <a:cubicBezTo>
                    <a:pt x="791013" y="558800"/>
                    <a:pt x="812800" y="537013"/>
                    <a:pt x="812800" y="510137"/>
                  </a:cubicBezTo>
                  <a:lnTo>
                    <a:pt x="812800" y="302663"/>
                  </a:lnTo>
                  <a:cubicBezTo>
                    <a:pt x="812800" y="275787"/>
                    <a:pt x="791013" y="254000"/>
                    <a:pt x="764137" y="254000"/>
                  </a:cubicBezTo>
                  <a:lnTo>
                    <a:pt x="607463" y="254000"/>
                  </a:lnTo>
                  <a:cubicBezTo>
                    <a:pt x="580587" y="254000"/>
                    <a:pt x="558800" y="232213"/>
                    <a:pt x="558800" y="205337"/>
                  </a:cubicBezTo>
                  <a:lnTo>
                    <a:pt x="558800" y="48663"/>
                  </a:lnTo>
                  <a:cubicBezTo>
                    <a:pt x="558800" y="21787"/>
                    <a:pt x="537013" y="0"/>
                    <a:pt x="510137" y="0"/>
                  </a:cubicBezTo>
                  <a:close/>
                </a:path>
              </a:pathLst>
            </a:custGeom>
            <a:solidFill>
              <a:srgbClr val="FFDE59"/>
            </a:solidFill>
          </p:spPr>
        </p:sp>
        <p:sp>
          <p:nvSpPr>
            <p:cNvPr id="19" name="TextBox 19"/>
            <p:cNvSpPr txBox="1"/>
            <p:nvPr/>
          </p:nvSpPr>
          <p:spPr>
            <a:xfrm>
              <a:off x="190500" y="142875"/>
              <a:ext cx="431800" cy="479425"/>
            </a:xfrm>
            <a:prstGeom prst="rect">
              <a:avLst/>
            </a:prstGeom>
          </p:spPr>
          <p:txBody>
            <a:bodyPr lIns="50800" tIns="50800" rIns="50800" bIns="50800" rtlCol="0" anchor="ctr"/>
            <a:lstStyle/>
            <a:p>
              <a:pPr algn="ctr">
                <a:lnSpc>
                  <a:spcPts val="2940"/>
                </a:lnSpc>
              </a:pPr>
            </a:p>
          </p:txBody>
        </p:sp>
      </p:grpSp>
      <p:sp>
        <p:nvSpPr>
          <p:cNvPr id="20" name="TextBox 20"/>
          <p:cNvSpPr txBox="1"/>
          <p:nvPr/>
        </p:nvSpPr>
        <p:spPr>
          <a:xfrm>
            <a:off x="4176707" y="887606"/>
            <a:ext cx="9899358" cy="348850"/>
          </a:xfrm>
          <a:prstGeom prst="rect">
            <a:avLst/>
          </a:prstGeom>
        </p:spPr>
        <p:txBody>
          <a:bodyPr lIns="0" tIns="0" rIns="0" bIns="0" rtlCol="0" anchor="t">
            <a:spAutoFit/>
          </a:bodyPr>
          <a:lstStyle/>
          <a:p>
            <a:pPr algn="ctr">
              <a:lnSpc>
                <a:spcPts val="2870"/>
              </a:lnSpc>
              <a:spcBef>
                <a:spcPct val="0"/>
              </a:spcBef>
            </a:pP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当前金融产品获取渠道普遍存在放大收益吸引力、模糊专业术语、刻意隐藏风险等问题</a:t>
            </a:r>
            <a:endPar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968517" y="1777991"/>
            <a:ext cx="1600200"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专业术语繁多</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3" name="TextBox 3"/>
          <p:cNvSpPr txBox="1"/>
          <p:nvPr/>
        </p:nvSpPr>
        <p:spPr>
          <a:xfrm>
            <a:off x="14327408" y="1777991"/>
            <a:ext cx="1600200"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操作逻辑复杂</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4" name="TextBox 4"/>
          <p:cNvSpPr txBox="1"/>
          <p:nvPr/>
        </p:nvSpPr>
        <p:spPr>
          <a:xfrm>
            <a:off x="2143026" y="1777991"/>
            <a:ext cx="1600200"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数据眼花缭乱</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grpSp>
        <p:nvGrpSpPr>
          <p:cNvPr id="5" name="Group 5"/>
          <p:cNvGrpSpPr/>
          <p:nvPr/>
        </p:nvGrpSpPr>
        <p:grpSpPr>
          <a:xfrm rot="0">
            <a:off x="1473421" y="2921004"/>
            <a:ext cx="3086100" cy="6534883"/>
            <a:chOff x="0" y="0"/>
            <a:chExt cx="812800" cy="1721121"/>
          </a:xfrm>
        </p:grpSpPr>
        <p:sp>
          <p:nvSpPr>
            <p:cNvPr id="6" name="Freeform 6"/>
            <p:cNvSpPr/>
            <p:nvPr/>
          </p:nvSpPr>
          <p:spPr>
            <a:xfrm>
              <a:off x="0" y="0"/>
              <a:ext cx="812800" cy="1721121"/>
            </a:xfrm>
            <a:custGeom>
              <a:avLst/>
              <a:gdLst/>
              <a:ahLst/>
              <a:cxnLst/>
              <a:rect l="l" t="t" r="r" b="b"/>
              <a:pathLst>
                <a:path w="812800" h="1721121">
                  <a:moveTo>
                    <a:pt x="0" y="0"/>
                  </a:moveTo>
                  <a:lnTo>
                    <a:pt x="812800" y="0"/>
                  </a:lnTo>
                  <a:lnTo>
                    <a:pt x="812800" y="1721121"/>
                  </a:lnTo>
                  <a:lnTo>
                    <a:pt x="0" y="1721121"/>
                  </a:lnTo>
                  <a:close/>
                </a:path>
              </a:pathLst>
            </a:custGeom>
            <a:solidFill>
              <a:srgbClr val="000000">
                <a:alpha val="0"/>
              </a:srgbClr>
            </a:solidFill>
            <a:ln w="47625" cap="sq">
              <a:solidFill>
                <a:srgbClr val="000000">
                  <a:alpha val="13725"/>
                </a:srgbClr>
              </a:solidFill>
              <a:prstDash val="solid"/>
              <a:miter/>
            </a:ln>
          </p:spPr>
        </p:sp>
        <p:sp>
          <p:nvSpPr>
            <p:cNvPr id="7" name="TextBox 7"/>
            <p:cNvSpPr txBox="1"/>
            <p:nvPr/>
          </p:nvSpPr>
          <p:spPr>
            <a:xfrm>
              <a:off x="0" y="-47625"/>
              <a:ext cx="812800" cy="1768746"/>
            </a:xfrm>
            <a:prstGeom prst="rect">
              <a:avLst/>
            </a:prstGeom>
          </p:spPr>
          <p:txBody>
            <a:bodyPr lIns="50800" tIns="50800" rIns="50800" bIns="50800" rtlCol="0" anchor="ctr"/>
            <a:lstStyle/>
            <a:p>
              <a:pPr algn="ctr">
                <a:lnSpc>
                  <a:spcPts val="2940"/>
                </a:lnSpc>
              </a:pPr>
            </a:p>
          </p:txBody>
        </p:sp>
      </p:grpSp>
      <p:sp>
        <p:nvSpPr>
          <p:cNvPr id="8" name="Freeform 8"/>
          <p:cNvSpPr/>
          <p:nvPr/>
        </p:nvSpPr>
        <p:spPr>
          <a:xfrm>
            <a:off x="1621913" y="3009967"/>
            <a:ext cx="2789115" cy="6356958"/>
          </a:xfrm>
          <a:custGeom>
            <a:avLst/>
            <a:gdLst/>
            <a:ahLst/>
            <a:cxnLst/>
            <a:rect l="l" t="t" r="r" b="b"/>
            <a:pathLst>
              <a:path w="2789115" h="6356958">
                <a:moveTo>
                  <a:pt x="0" y="0"/>
                </a:moveTo>
                <a:lnTo>
                  <a:pt x="2789115" y="0"/>
                </a:lnTo>
                <a:lnTo>
                  <a:pt x="2789115" y="6356958"/>
                </a:lnTo>
                <a:lnTo>
                  <a:pt x="0" y="6356958"/>
                </a:lnTo>
                <a:lnTo>
                  <a:pt x="0" y="0"/>
                </a:lnTo>
                <a:close/>
              </a:path>
            </a:pathLst>
          </a:custGeom>
          <a:blipFill>
            <a:blip r:embed="rId1"/>
            <a:stretch>
              <a:fillRect/>
            </a:stretch>
          </a:blipFill>
        </p:spPr>
      </p:sp>
      <p:sp>
        <p:nvSpPr>
          <p:cNvPr id="9" name="Freeform 9"/>
          <p:cNvSpPr/>
          <p:nvPr/>
        </p:nvSpPr>
        <p:spPr>
          <a:xfrm>
            <a:off x="7374059" y="3009967"/>
            <a:ext cx="2789115" cy="6356958"/>
          </a:xfrm>
          <a:custGeom>
            <a:avLst/>
            <a:gdLst/>
            <a:ahLst/>
            <a:cxnLst/>
            <a:rect l="l" t="t" r="r" b="b"/>
            <a:pathLst>
              <a:path w="2789115" h="6356958">
                <a:moveTo>
                  <a:pt x="0" y="0"/>
                </a:moveTo>
                <a:lnTo>
                  <a:pt x="2789116" y="0"/>
                </a:lnTo>
                <a:lnTo>
                  <a:pt x="2789116" y="6356958"/>
                </a:lnTo>
                <a:lnTo>
                  <a:pt x="0" y="6356958"/>
                </a:lnTo>
                <a:lnTo>
                  <a:pt x="0" y="0"/>
                </a:lnTo>
                <a:close/>
              </a:path>
            </a:pathLst>
          </a:custGeom>
          <a:blipFill>
            <a:blip r:embed="rId2"/>
            <a:stretch>
              <a:fillRect/>
            </a:stretch>
          </a:blipFill>
        </p:spPr>
      </p:sp>
      <p:sp>
        <p:nvSpPr>
          <p:cNvPr id="10" name="Freeform 10"/>
          <p:cNvSpPr/>
          <p:nvPr/>
        </p:nvSpPr>
        <p:spPr>
          <a:xfrm>
            <a:off x="13732951" y="3098929"/>
            <a:ext cx="2789115" cy="6356958"/>
          </a:xfrm>
          <a:custGeom>
            <a:avLst/>
            <a:gdLst/>
            <a:ahLst/>
            <a:cxnLst/>
            <a:rect l="l" t="t" r="r" b="b"/>
            <a:pathLst>
              <a:path w="2789115" h="6356958">
                <a:moveTo>
                  <a:pt x="0" y="0"/>
                </a:moveTo>
                <a:lnTo>
                  <a:pt x="2789115" y="0"/>
                </a:lnTo>
                <a:lnTo>
                  <a:pt x="2789115" y="6356958"/>
                </a:lnTo>
                <a:lnTo>
                  <a:pt x="0" y="6356958"/>
                </a:lnTo>
                <a:lnTo>
                  <a:pt x="0" y="0"/>
                </a:lnTo>
                <a:close/>
              </a:path>
            </a:pathLst>
          </a:custGeom>
          <a:blipFill>
            <a:blip r:embed="rId3"/>
            <a:stretch>
              <a:fillRect/>
            </a:stretch>
          </a:blipFill>
        </p:spPr>
      </p:sp>
      <p:grpSp>
        <p:nvGrpSpPr>
          <p:cNvPr id="11" name="Group 11"/>
          <p:cNvGrpSpPr/>
          <p:nvPr/>
        </p:nvGrpSpPr>
        <p:grpSpPr>
          <a:xfrm rot="0">
            <a:off x="7225567" y="3009967"/>
            <a:ext cx="3086100" cy="6534883"/>
            <a:chOff x="0" y="0"/>
            <a:chExt cx="812800" cy="1721121"/>
          </a:xfrm>
        </p:grpSpPr>
        <p:sp>
          <p:nvSpPr>
            <p:cNvPr id="12" name="Freeform 12"/>
            <p:cNvSpPr/>
            <p:nvPr/>
          </p:nvSpPr>
          <p:spPr>
            <a:xfrm>
              <a:off x="0" y="0"/>
              <a:ext cx="812800" cy="1721121"/>
            </a:xfrm>
            <a:custGeom>
              <a:avLst/>
              <a:gdLst/>
              <a:ahLst/>
              <a:cxnLst/>
              <a:rect l="l" t="t" r="r" b="b"/>
              <a:pathLst>
                <a:path w="812800" h="1721121">
                  <a:moveTo>
                    <a:pt x="0" y="0"/>
                  </a:moveTo>
                  <a:lnTo>
                    <a:pt x="812800" y="0"/>
                  </a:lnTo>
                  <a:lnTo>
                    <a:pt x="812800" y="1721121"/>
                  </a:lnTo>
                  <a:lnTo>
                    <a:pt x="0" y="1721121"/>
                  </a:lnTo>
                  <a:close/>
                </a:path>
              </a:pathLst>
            </a:custGeom>
            <a:solidFill>
              <a:srgbClr val="000000">
                <a:alpha val="0"/>
              </a:srgbClr>
            </a:solidFill>
            <a:ln w="47625" cap="sq">
              <a:solidFill>
                <a:srgbClr val="000000">
                  <a:alpha val="13725"/>
                </a:srgbClr>
              </a:solidFill>
              <a:prstDash val="solid"/>
              <a:miter/>
            </a:ln>
          </p:spPr>
        </p:sp>
        <p:sp>
          <p:nvSpPr>
            <p:cNvPr id="13" name="TextBox 13"/>
            <p:cNvSpPr txBox="1"/>
            <p:nvPr/>
          </p:nvSpPr>
          <p:spPr>
            <a:xfrm>
              <a:off x="0" y="-47625"/>
              <a:ext cx="812800" cy="1768746"/>
            </a:xfrm>
            <a:prstGeom prst="rect">
              <a:avLst/>
            </a:prstGeom>
          </p:spPr>
          <p:txBody>
            <a:bodyPr lIns="50800" tIns="50800" rIns="50800" bIns="50800" rtlCol="0" anchor="ctr"/>
            <a:lstStyle/>
            <a:p>
              <a:pPr algn="ctr">
                <a:lnSpc>
                  <a:spcPts val="2940"/>
                </a:lnSpc>
              </a:pPr>
            </a:p>
          </p:txBody>
        </p:sp>
      </p:grpSp>
      <p:grpSp>
        <p:nvGrpSpPr>
          <p:cNvPr id="14" name="Group 14"/>
          <p:cNvGrpSpPr/>
          <p:nvPr/>
        </p:nvGrpSpPr>
        <p:grpSpPr>
          <a:xfrm rot="0">
            <a:off x="13693252" y="3098929"/>
            <a:ext cx="3086100" cy="6534883"/>
            <a:chOff x="0" y="0"/>
            <a:chExt cx="812800" cy="1721121"/>
          </a:xfrm>
        </p:grpSpPr>
        <p:sp>
          <p:nvSpPr>
            <p:cNvPr id="15" name="Freeform 15"/>
            <p:cNvSpPr/>
            <p:nvPr/>
          </p:nvSpPr>
          <p:spPr>
            <a:xfrm>
              <a:off x="0" y="0"/>
              <a:ext cx="812800" cy="1721121"/>
            </a:xfrm>
            <a:custGeom>
              <a:avLst/>
              <a:gdLst/>
              <a:ahLst/>
              <a:cxnLst/>
              <a:rect l="l" t="t" r="r" b="b"/>
              <a:pathLst>
                <a:path w="812800" h="1721121">
                  <a:moveTo>
                    <a:pt x="0" y="0"/>
                  </a:moveTo>
                  <a:lnTo>
                    <a:pt x="812800" y="0"/>
                  </a:lnTo>
                  <a:lnTo>
                    <a:pt x="812800" y="1721121"/>
                  </a:lnTo>
                  <a:lnTo>
                    <a:pt x="0" y="1721121"/>
                  </a:lnTo>
                  <a:close/>
                </a:path>
              </a:pathLst>
            </a:custGeom>
            <a:solidFill>
              <a:srgbClr val="000000">
                <a:alpha val="0"/>
              </a:srgbClr>
            </a:solidFill>
            <a:ln w="47625" cap="sq">
              <a:solidFill>
                <a:srgbClr val="000000">
                  <a:alpha val="13725"/>
                </a:srgbClr>
              </a:solidFill>
              <a:prstDash val="solid"/>
              <a:miter/>
            </a:ln>
          </p:spPr>
        </p:sp>
        <p:sp>
          <p:nvSpPr>
            <p:cNvPr id="16" name="TextBox 16"/>
            <p:cNvSpPr txBox="1"/>
            <p:nvPr/>
          </p:nvSpPr>
          <p:spPr>
            <a:xfrm>
              <a:off x="0" y="-47625"/>
              <a:ext cx="812800" cy="1768746"/>
            </a:xfrm>
            <a:prstGeom prst="rect">
              <a:avLst/>
            </a:prstGeom>
          </p:spPr>
          <p:txBody>
            <a:bodyPr lIns="50800" tIns="50800" rIns="50800" bIns="50800" rtlCol="0" anchor="ctr"/>
            <a:lstStyle/>
            <a:p>
              <a:pPr algn="ctr">
                <a:lnSpc>
                  <a:spcPts val="2940"/>
                </a:lnSpc>
              </a:pPr>
            </a:p>
          </p:txBody>
        </p:sp>
      </p:grpSp>
      <p:grpSp>
        <p:nvGrpSpPr>
          <p:cNvPr id="17" name="Group 17"/>
          <p:cNvGrpSpPr/>
          <p:nvPr/>
        </p:nvGrpSpPr>
        <p:grpSpPr>
          <a:xfrm rot="0">
            <a:off x="3397314" y="836660"/>
            <a:ext cx="477278" cy="477278"/>
            <a:chOff x="0" y="0"/>
            <a:chExt cx="812800" cy="812800"/>
          </a:xfrm>
        </p:grpSpPr>
        <p:sp>
          <p:nvSpPr>
            <p:cNvPr id="18" name="Freeform 18"/>
            <p:cNvSpPr/>
            <p:nvPr/>
          </p:nvSpPr>
          <p:spPr>
            <a:xfrm>
              <a:off x="0" y="0"/>
              <a:ext cx="812800" cy="812800"/>
            </a:xfrm>
            <a:custGeom>
              <a:avLst/>
              <a:gdLst/>
              <a:ahLst/>
              <a:cxnLst/>
              <a:rect l="l" t="t" r="r" b="b"/>
              <a:pathLst>
                <a:path w="812800" h="812800">
                  <a:moveTo>
                    <a:pt x="510137" y="0"/>
                  </a:moveTo>
                  <a:lnTo>
                    <a:pt x="302663" y="0"/>
                  </a:lnTo>
                  <a:cubicBezTo>
                    <a:pt x="275787" y="0"/>
                    <a:pt x="254000" y="21787"/>
                    <a:pt x="254000" y="48663"/>
                  </a:cubicBezTo>
                  <a:lnTo>
                    <a:pt x="254000" y="205337"/>
                  </a:lnTo>
                  <a:cubicBezTo>
                    <a:pt x="254000" y="232213"/>
                    <a:pt x="232213" y="254000"/>
                    <a:pt x="205337" y="254000"/>
                  </a:cubicBezTo>
                  <a:lnTo>
                    <a:pt x="48663" y="254000"/>
                  </a:lnTo>
                  <a:cubicBezTo>
                    <a:pt x="21787" y="254000"/>
                    <a:pt x="0" y="275787"/>
                    <a:pt x="0" y="302663"/>
                  </a:cubicBezTo>
                  <a:lnTo>
                    <a:pt x="0" y="510137"/>
                  </a:lnTo>
                  <a:cubicBezTo>
                    <a:pt x="0" y="537013"/>
                    <a:pt x="21787" y="558800"/>
                    <a:pt x="48663" y="558800"/>
                  </a:cubicBezTo>
                  <a:lnTo>
                    <a:pt x="205337" y="558800"/>
                  </a:lnTo>
                  <a:cubicBezTo>
                    <a:pt x="232213" y="558800"/>
                    <a:pt x="254000" y="580587"/>
                    <a:pt x="254000" y="607463"/>
                  </a:cubicBezTo>
                  <a:lnTo>
                    <a:pt x="254000" y="764137"/>
                  </a:lnTo>
                  <a:cubicBezTo>
                    <a:pt x="254000" y="791013"/>
                    <a:pt x="275787" y="812800"/>
                    <a:pt x="302663" y="812800"/>
                  </a:cubicBezTo>
                  <a:lnTo>
                    <a:pt x="510137" y="812800"/>
                  </a:lnTo>
                  <a:cubicBezTo>
                    <a:pt x="537013" y="812800"/>
                    <a:pt x="558800" y="791013"/>
                    <a:pt x="558800" y="764137"/>
                  </a:cubicBezTo>
                  <a:lnTo>
                    <a:pt x="558800" y="607463"/>
                  </a:lnTo>
                  <a:cubicBezTo>
                    <a:pt x="558800" y="580587"/>
                    <a:pt x="580587" y="558800"/>
                    <a:pt x="607463" y="558800"/>
                  </a:cubicBezTo>
                  <a:lnTo>
                    <a:pt x="764137" y="558800"/>
                  </a:lnTo>
                  <a:cubicBezTo>
                    <a:pt x="791013" y="558800"/>
                    <a:pt x="812800" y="537013"/>
                    <a:pt x="812800" y="510137"/>
                  </a:cubicBezTo>
                  <a:lnTo>
                    <a:pt x="812800" y="302663"/>
                  </a:lnTo>
                  <a:cubicBezTo>
                    <a:pt x="812800" y="275787"/>
                    <a:pt x="791013" y="254000"/>
                    <a:pt x="764137" y="254000"/>
                  </a:cubicBezTo>
                  <a:lnTo>
                    <a:pt x="607463" y="254000"/>
                  </a:lnTo>
                  <a:cubicBezTo>
                    <a:pt x="580587" y="254000"/>
                    <a:pt x="558800" y="232213"/>
                    <a:pt x="558800" y="205337"/>
                  </a:cubicBezTo>
                  <a:lnTo>
                    <a:pt x="558800" y="48663"/>
                  </a:lnTo>
                  <a:cubicBezTo>
                    <a:pt x="558800" y="21787"/>
                    <a:pt x="537013" y="0"/>
                    <a:pt x="510137" y="0"/>
                  </a:cubicBezTo>
                  <a:close/>
                </a:path>
              </a:pathLst>
            </a:custGeom>
            <a:solidFill>
              <a:srgbClr val="FFDE59"/>
            </a:solidFill>
          </p:spPr>
        </p:sp>
        <p:sp>
          <p:nvSpPr>
            <p:cNvPr id="19" name="TextBox 19"/>
            <p:cNvSpPr txBox="1"/>
            <p:nvPr/>
          </p:nvSpPr>
          <p:spPr>
            <a:xfrm>
              <a:off x="190500" y="142875"/>
              <a:ext cx="431800" cy="479425"/>
            </a:xfrm>
            <a:prstGeom prst="rect">
              <a:avLst/>
            </a:prstGeom>
          </p:spPr>
          <p:txBody>
            <a:bodyPr lIns="50800" tIns="50800" rIns="50800" bIns="50800" rtlCol="0" anchor="ctr"/>
            <a:lstStyle/>
            <a:p>
              <a:pPr algn="ctr">
                <a:lnSpc>
                  <a:spcPts val="2940"/>
                </a:lnSpc>
              </a:pPr>
            </a:p>
          </p:txBody>
        </p:sp>
      </p:grpSp>
      <p:sp>
        <p:nvSpPr>
          <p:cNvPr id="20" name="TextBox 20"/>
          <p:cNvSpPr txBox="1"/>
          <p:nvPr/>
        </p:nvSpPr>
        <p:spPr>
          <a:xfrm>
            <a:off x="4176707" y="887606"/>
            <a:ext cx="9899358" cy="348850"/>
          </a:xfrm>
          <a:prstGeom prst="rect">
            <a:avLst/>
          </a:prstGeom>
        </p:spPr>
        <p:txBody>
          <a:bodyPr lIns="0" tIns="0" rIns="0" bIns="0" rtlCol="0" anchor="t">
            <a:spAutoFit/>
          </a:bodyPr>
          <a:lstStyle/>
          <a:p>
            <a:pPr algn="ctr">
              <a:lnSpc>
                <a:spcPts val="2870"/>
              </a:lnSpc>
              <a:spcBef>
                <a:spcPct val="0"/>
              </a:spcBef>
            </a:pP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当前金融产品获取渠道普遍存在放大收益吸引力、模糊专业术语、刻意隐藏风险等问题</a:t>
            </a:r>
            <a:endPar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676650" y="3545824"/>
            <a:ext cx="10934700" cy="1920235"/>
          </a:xfrm>
          <a:prstGeom prst="rect">
            <a:avLst/>
          </a:prstGeom>
        </p:spPr>
        <p:txBody>
          <a:bodyPr lIns="0" tIns="0" rIns="0" bIns="0" rtlCol="0" anchor="t">
            <a:spAutoFit/>
          </a:bodyPr>
          <a:lstStyle/>
          <a:p>
            <a:pPr algn="ctr">
              <a:lnSpc>
                <a:spcPts val="5250"/>
              </a:lnSpc>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ctr">
              <a:lnSpc>
                <a:spcPts val="5250"/>
              </a:lnSpc>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这样的设计让大众投资者难以正确选择符合他们的投资需求、收益期望与风险偏好的金融产品</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ctr">
              <a:lnSpc>
                <a:spcPts val="5250"/>
              </a:lnSpc>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大众对金融市场的风险厌恶，即便是最接地气的基金、股票交易，也被认为是危险的</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86142" y="3510146"/>
            <a:ext cx="431734" cy="431734"/>
          </a:xfrm>
          <a:custGeom>
            <a:avLst/>
            <a:gdLst/>
            <a:ahLst/>
            <a:cxnLst/>
            <a:rect l="l" t="t" r="r" b="b"/>
            <a:pathLst>
              <a:path w="431734" h="431734">
                <a:moveTo>
                  <a:pt x="0" y="0"/>
                </a:moveTo>
                <a:lnTo>
                  <a:pt x="431734" y="0"/>
                </a:lnTo>
                <a:lnTo>
                  <a:pt x="431734" y="431734"/>
                </a:lnTo>
                <a:lnTo>
                  <a:pt x="0" y="43173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686142" y="2831094"/>
            <a:ext cx="432272" cy="432272"/>
          </a:xfrm>
          <a:custGeom>
            <a:avLst/>
            <a:gdLst/>
            <a:ahLst/>
            <a:cxnLst/>
            <a:rect l="l" t="t" r="r" b="b"/>
            <a:pathLst>
              <a:path w="432272" h="432272">
                <a:moveTo>
                  <a:pt x="0" y="0"/>
                </a:moveTo>
                <a:lnTo>
                  <a:pt x="432272" y="0"/>
                </a:lnTo>
                <a:lnTo>
                  <a:pt x="432272" y="432272"/>
                </a:lnTo>
                <a:lnTo>
                  <a:pt x="0" y="43227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686142" y="4188660"/>
            <a:ext cx="432272" cy="432272"/>
          </a:xfrm>
          <a:custGeom>
            <a:avLst/>
            <a:gdLst/>
            <a:ahLst/>
            <a:cxnLst/>
            <a:rect l="l" t="t" r="r" b="b"/>
            <a:pathLst>
              <a:path w="432272" h="432272">
                <a:moveTo>
                  <a:pt x="0" y="0"/>
                </a:moveTo>
                <a:lnTo>
                  <a:pt x="432272" y="0"/>
                </a:lnTo>
                <a:lnTo>
                  <a:pt x="432272" y="432272"/>
                </a:lnTo>
                <a:lnTo>
                  <a:pt x="0" y="43227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1686142" y="5546226"/>
            <a:ext cx="481224" cy="443327"/>
          </a:xfrm>
          <a:custGeom>
            <a:avLst/>
            <a:gdLst/>
            <a:ahLst/>
            <a:cxnLst/>
            <a:rect l="l" t="t" r="r" b="b"/>
            <a:pathLst>
              <a:path w="481224" h="443327">
                <a:moveTo>
                  <a:pt x="0" y="0"/>
                </a:moveTo>
                <a:lnTo>
                  <a:pt x="481223" y="0"/>
                </a:lnTo>
                <a:lnTo>
                  <a:pt x="481223" y="443328"/>
                </a:lnTo>
                <a:lnTo>
                  <a:pt x="0" y="44332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a:off x="1714798" y="6278046"/>
            <a:ext cx="423910" cy="423910"/>
          </a:xfrm>
          <a:custGeom>
            <a:avLst/>
            <a:gdLst/>
            <a:ahLst/>
            <a:cxnLst/>
            <a:rect l="l" t="t" r="r" b="b"/>
            <a:pathLst>
              <a:path w="423910" h="423910">
                <a:moveTo>
                  <a:pt x="0" y="0"/>
                </a:moveTo>
                <a:lnTo>
                  <a:pt x="423911" y="0"/>
                </a:lnTo>
                <a:lnTo>
                  <a:pt x="423911" y="423910"/>
                </a:lnTo>
                <a:lnTo>
                  <a:pt x="0" y="42391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a:off x="1686142" y="4867712"/>
            <a:ext cx="431734" cy="431734"/>
          </a:xfrm>
          <a:custGeom>
            <a:avLst/>
            <a:gdLst/>
            <a:ahLst/>
            <a:cxnLst/>
            <a:rect l="l" t="t" r="r" b="b"/>
            <a:pathLst>
              <a:path w="431734" h="431734">
                <a:moveTo>
                  <a:pt x="0" y="0"/>
                </a:moveTo>
                <a:lnTo>
                  <a:pt x="431734" y="0"/>
                </a:lnTo>
                <a:lnTo>
                  <a:pt x="431734" y="431734"/>
                </a:lnTo>
                <a:lnTo>
                  <a:pt x="0" y="43173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8" name="TextBox 8"/>
          <p:cNvSpPr txBox="1"/>
          <p:nvPr/>
        </p:nvSpPr>
        <p:spPr>
          <a:xfrm>
            <a:off x="2421558" y="2840538"/>
            <a:ext cx="1913930"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a. 没有储蓄习惯</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9" name="TextBox 9"/>
          <p:cNvSpPr txBox="1"/>
          <p:nvPr/>
        </p:nvSpPr>
        <p:spPr>
          <a:xfrm>
            <a:off x="2421558" y="3539669"/>
            <a:ext cx="6988373"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b. 没有储蓄习惯，但有简单的投资行为（余额宝、零钱通）</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0" name="TextBox 10"/>
          <p:cNvSpPr txBox="1"/>
          <p:nvPr/>
        </p:nvSpPr>
        <p:spPr>
          <a:xfrm>
            <a:off x="2421558" y="4238801"/>
            <a:ext cx="3559354"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c</a:t>
            </a: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有储蓄习惯但没有投资习惯</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1" name="TextBox 11"/>
          <p:cNvSpPr txBox="1"/>
          <p:nvPr/>
        </p:nvSpPr>
        <p:spPr>
          <a:xfrm>
            <a:off x="2421558" y="4937933"/>
            <a:ext cx="11049834"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d</a:t>
            </a: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有储蓄习惯也有投资习惯，但投资品种简单（一般为支付宝、微信的定投活期低收益产品）</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2" name="TextBox 12"/>
          <p:cNvSpPr txBox="1"/>
          <p:nvPr/>
        </p:nvSpPr>
        <p:spPr>
          <a:xfrm>
            <a:off x="2362266" y="6336197"/>
            <a:ext cx="12390425"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a:t>
            </a: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f</a:t>
            </a: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有储蓄习惯也有投资习惯，不仅会主动选择投资品种，还会制定交易策略，甚至部分会参与衍生品交易</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3" name="TextBox 13"/>
          <p:cNvSpPr txBox="1"/>
          <p:nvPr/>
        </p:nvSpPr>
        <p:spPr>
          <a:xfrm>
            <a:off x="2421558" y="5637065"/>
            <a:ext cx="14837742"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e</a:t>
            </a: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有储蓄习惯也有投资习惯，且投资渠道更为多元，拥有券商、基金账户，主动选择投资品种，但并不对交易策略有深入研究</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4" name="TextBox 14"/>
          <p:cNvSpPr txBox="1"/>
          <p:nvPr/>
        </p:nvSpPr>
        <p:spPr>
          <a:xfrm>
            <a:off x="509588" y="371370"/>
            <a:ext cx="2133600" cy="405764"/>
          </a:xfrm>
          <a:prstGeom prst="rect">
            <a:avLst/>
          </a:prstGeom>
        </p:spPr>
        <p:txBody>
          <a:bodyPr lIns="0" tIns="0" rIns="0" bIns="0" rtlCol="0" anchor="t">
            <a:spAutoFit/>
          </a:bodyPr>
          <a:lstStyle/>
          <a:p>
            <a:pPr algn="ctr">
              <a:lnSpc>
                <a:spcPts val="3360"/>
              </a:lnSpc>
              <a:spcBef>
                <a:spcPct val="0"/>
              </a:spcBef>
            </a:pPr>
            <a:r>
              <a:rPr lang="en-US" sz="24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大众投资者分类</a:t>
            </a:r>
            <a:endParaRPr lang="en-US" sz="24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endParaRPr>
          </a:p>
        </p:txBody>
      </p:sp>
      <p:grpSp>
        <p:nvGrpSpPr>
          <p:cNvPr id="15" name="Group 15"/>
          <p:cNvGrpSpPr/>
          <p:nvPr/>
        </p:nvGrpSpPr>
        <p:grpSpPr>
          <a:xfrm rot="0">
            <a:off x="1484054" y="2598590"/>
            <a:ext cx="12137920" cy="2868698"/>
            <a:chOff x="0" y="0"/>
            <a:chExt cx="3196819" cy="755542"/>
          </a:xfrm>
        </p:grpSpPr>
        <p:sp>
          <p:nvSpPr>
            <p:cNvPr id="16" name="Freeform 16"/>
            <p:cNvSpPr/>
            <p:nvPr/>
          </p:nvSpPr>
          <p:spPr>
            <a:xfrm>
              <a:off x="0" y="0"/>
              <a:ext cx="3196819" cy="755542"/>
            </a:xfrm>
            <a:custGeom>
              <a:avLst/>
              <a:gdLst/>
              <a:ahLst/>
              <a:cxnLst/>
              <a:rect l="l" t="t" r="r" b="b"/>
              <a:pathLst>
                <a:path w="3196819" h="755542">
                  <a:moveTo>
                    <a:pt x="10843" y="0"/>
                  </a:moveTo>
                  <a:lnTo>
                    <a:pt x="3185975" y="0"/>
                  </a:lnTo>
                  <a:cubicBezTo>
                    <a:pt x="3188851" y="0"/>
                    <a:pt x="3191609" y="1142"/>
                    <a:pt x="3193643" y="3176"/>
                  </a:cubicBezTo>
                  <a:cubicBezTo>
                    <a:pt x="3195676" y="5209"/>
                    <a:pt x="3196819" y="7967"/>
                    <a:pt x="3196819" y="10843"/>
                  </a:cubicBezTo>
                  <a:lnTo>
                    <a:pt x="3196819" y="744699"/>
                  </a:lnTo>
                  <a:cubicBezTo>
                    <a:pt x="3196819" y="747575"/>
                    <a:pt x="3195676" y="750333"/>
                    <a:pt x="3193643" y="752366"/>
                  </a:cubicBezTo>
                  <a:cubicBezTo>
                    <a:pt x="3191609" y="754400"/>
                    <a:pt x="3188851" y="755542"/>
                    <a:pt x="3185975" y="755542"/>
                  </a:cubicBezTo>
                  <a:lnTo>
                    <a:pt x="10843" y="755542"/>
                  </a:lnTo>
                  <a:cubicBezTo>
                    <a:pt x="7967" y="755542"/>
                    <a:pt x="5209" y="754400"/>
                    <a:pt x="3176" y="752366"/>
                  </a:cubicBezTo>
                  <a:cubicBezTo>
                    <a:pt x="1142" y="750333"/>
                    <a:pt x="0" y="747575"/>
                    <a:pt x="0" y="744699"/>
                  </a:cubicBezTo>
                  <a:lnTo>
                    <a:pt x="0" y="10843"/>
                  </a:lnTo>
                  <a:cubicBezTo>
                    <a:pt x="0" y="7967"/>
                    <a:pt x="1142" y="5209"/>
                    <a:pt x="3176" y="3176"/>
                  </a:cubicBezTo>
                  <a:cubicBezTo>
                    <a:pt x="5209" y="1142"/>
                    <a:pt x="7967" y="0"/>
                    <a:pt x="10843" y="0"/>
                  </a:cubicBezTo>
                  <a:close/>
                </a:path>
              </a:pathLst>
            </a:custGeom>
            <a:solidFill>
              <a:srgbClr val="000000">
                <a:alpha val="0"/>
              </a:srgbClr>
            </a:solidFill>
            <a:ln w="66675" cap="sq">
              <a:solidFill>
                <a:srgbClr val="A7BC9B"/>
              </a:solidFill>
              <a:prstDash val="solid"/>
              <a:miter/>
            </a:ln>
          </p:spPr>
        </p:sp>
        <p:sp>
          <p:nvSpPr>
            <p:cNvPr id="17" name="TextBox 17"/>
            <p:cNvSpPr txBox="1"/>
            <p:nvPr/>
          </p:nvSpPr>
          <p:spPr>
            <a:xfrm>
              <a:off x="0" y="-47625"/>
              <a:ext cx="3196819" cy="803167"/>
            </a:xfrm>
            <a:prstGeom prst="rect">
              <a:avLst/>
            </a:prstGeom>
          </p:spPr>
          <p:txBody>
            <a:bodyPr lIns="50800" tIns="50800" rIns="50800" bIns="50800" rtlCol="0" anchor="ctr"/>
            <a:lstStyle/>
            <a:p>
              <a:pPr algn="ctr">
                <a:lnSpc>
                  <a:spcPts val="2940"/>
                </a:lnSpc>
              </a:pPr>
            </a:p>
          </p:txBody>
        </p:sp>
      </p:grpSp>
      <p:grpSp>
        <p:nvGrpSpPr>
          <p:cNvPr id="19" name="Group 19"/>
          <p:cNvGrpSpPr/>
          <p:nvPr/>
        </p:nvGrpSpPr>
        <p:grpSpPr>
          <a:xfrm rot="7412357">
            <a:off x="910601" y="5401574"/>
            <a:ext cx="522333" cy="457041"/>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17305B"/>
            </a:solidFill>
          </p:spPr>
        </p:sp>
        <p:sp>
          <p:nvSpPr>
            <p:cNvPr id="21" name="TextBox 21"/>
            <p:cNvSpPr txBox="1"/>
            <p:nvPr/>
          </p:nvSpPr>
          <p:spPr>
            <a:xfrm>
              <a:off x="127000" y="282575"/>
              <a:ext cx="558800" cy="377825"/>
            </a:xfrm>
            <a:prstGeom prst="rect">
              <a:avLst/>
            </a:prstGeom>
          </p:spPr>
          <p:txBody>
            <a:bodyPr lIns="50800" tIns="50800" rIns="50800" bIns="50800" rtlCol="0" anchor="ctr"/>
            <a:lstStyle/>
            <a:p>
              <a:pPr algn="ctr">
                <a:lnSpc>
                  <a:spcPts val="2940"/>
                </a:lnSpc>
              </a:pPr>
            </a:p>
          </p:txBody>
        </p:sp>
      </p:grpSp>
      <p:grpSp>
        <p:nvGrpSpPr>
          <p:cNvPr id="22" name="Group 22"/>
          <p:cNvGrpSpPr/>
          <p:nvPr/>
        </p:nvGrpSpPr>
        <p:grpSpPr>
          <a:xfrm rot="0">
            <a:off x="2268895" y="4900949"/>
            <a:ext cx="11202496" cy="485102"/>
            <a:chOff x="0" y="0"/>
            <a:chExt cx="2950452" cy="127763"/>
          </a:xfrm>
        </p:grpSpPr>
        <p:sp>
          <p:nvSpPr>
            <p:cNvPr id="23" name="Freeform 23"/>
            <p:cNvSpPr/>
            <p:nvPr/>
          </p:nvSpPr>
          <p:spPr>
            <a:xfrm>
              <a:off x="0" y="0"/>
              <a:ext cx="2950452" cy="127763"/>
            </a:xfrm>
            <a:custGeom>
              <a:avLst/>
              <a:gdLst/>
              <a:ahLst/>
              <a:cxnLst/>
              <a:rect l="l" t="t" r="r" b="b"/>
              <a:pathLst>
                <a:path w="2950452" h="127763">
                  <a:moveTo>
                    <a:pt x="11749" y="0"/>
                  </a:moveTo>
                  <a:lnTo>
                    <a:pt x="2938703" y="0"/>
                  </a:lnTo>
                  <a:cubicBezTo>
                    <a:pt x="2941819" y="0"/>
                    <a:pt x="2944807" y="1238"/>
                    <a:pt x="2947011" y="3441"/>
                  </a:cubicBezTo>
                  <a:cubicBezTo>
                    <a:pt x="2949214" y="5644"/>
                    <a:pt x="2950452" y="8633"/>
                    <a:pt x="2950452" y="11749"/>
                  </a:cubicBezTo>
                  <a:lnTo>
                    <a:pt x="2950452" y="116015"/>
                  </a:lnTo>
                  <a:cubicBezTo>
                    <a:pt x="2950452" y="119131"/>
                    <a:pt x="2949214" y="122119"/>
                    <a:pt x="2947011" y="124322"/>
                  </a:cubicBezTo>
                  <a:cubicBezTo>
                    <a:pt x="2944807" y="126526"/>
                    <a:pt x="2941819" y="127763"/>
                    <a:pt x="2938703" y="127763"/>
                  </a:cubicBezTo>
                  <a:lnTo>
                    <a:pt x="11749" y="127763"/>
                  </a:lnTo>
                  <a:cubicBezTo>
                    <a:pt x="8633" y="127763"/>
                    <a:pt x="5644" y="126526"/>
                    <a:pt x="3441" y="124322"/>
                  </a:cubicBezTo>
                  <a:cubicBezTo>
                    <a:pt x="1238" y="122119"/>
                    <a:pt x="0" y="119131"/>
                    <a:pt x="0" y="116015"/>
                  </a:cubicBezTo>
                  <a:lnTo>
                    <a:pt x="0" y="11749"/>
                  </a:lnTo>
                  <a:cubicBezTo>
                    <a:pt x="0" y="8633"/>
                    <a:pt x="1238" y="5644"/>
                    <a:pt x="3441" y="3441"/>
                  </a:cubicBezTo>
                  <a:cubicBezTo>
                    <a:pt x="5644" y="1238"/>
                    <a:pt x="8633" y="0"/>
                    <a:pt x="11749" y="0"/>
                  </a:cubicBezTo>
                  <a:close/>
                </a:path>
              </a:pathLst>
            </a:custGeom>
            <a:solidFill>
              <a:srgbClr val="000000">
                <a:alpha val="0"/>
              </a:srgbClr>
            </a:solidFill>
            <a:ln w="28575" cap="sq">
              <a:solidFill>
                <a:srgbClr val="CB2419"/>
              </a:solidFill>
              <a:prstDash val="solid"/>
              <a:miter/>
            </a:ln>
          </p:spPr>
        </p:sp>
        <p:sp>
          <p:nvSpPr>
            <p:cNvPr id="24" name="TextBox 24"/>
            <p:cNvSpPr txBox="1"/>
            <p:nvPr/>
          </p:nvSpPr>
          <p:spPr>
            <a:xfrm>
              <a:off x="0" y="-47625"/>
              <a:ext cx="2950452" cy="175388"/>
            </a:xfrm>
            <a:prstGeom prst="rect">
              <a:avLst/>
            </a:prstGeom>
          </p:spPr>
          <p:txBody>
            <a:bodyPr lIns="50800" tIns="50800" rIns="50800" bIns="50800" rtlCol="0" anchor="ctr"/>
            <a:lstStyle/>
            <a:p>
              <a:pPr algn="ctr">
                <a:lnSpc>
                  <a:spcPts val="2940"/>
                </a:lnSpc>
              </a:p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506715" y="3726753"/>
            <a:ext cx="7274570" cy="2662044"/>
          </a:xfrm>
          <a:prstGeom prst="rect">
            <a:avLst/>
          </a:prstGeom>
        </p:spPr>
        <p:txBody>
          <a:bodyPr lIns="0" tIns="0" rIns="0" bIns="0" rtlCol="0" anchor="t">
            <a:spAutoFit/>
          </a:bodyPr>
          <a:lstStyle/>
          <a:p>
            <a:pPr algn="l">
              <a:lnSpc>
                <a:spcPts val="4285"/>
              </a:lnSpc>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本项目属于移动应用开发、产品设计与金融科技交叉领域，</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4285"/>
              </a:lnSpc>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旨在开发一款面向大众投资者的投资账户记账软件FirstSpot。</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4285"/>
              </a:lnSpc>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项目通过技术手段降低投资门槛，</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4285"/>
              </a:lnSpc>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利用交互设计提升使用体验，</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4285"/>
              </a:lnSpc>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提升大众投资者的投资体验和决策能力。</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98361" y="6090198"/>
            <a:ext cx="6974237" cy="4114800"/>
          </a:xfrm>
          <a:custGeom>
            <a:avLst/>
            <a:gdLst/>
            <a:ahLst/>
            <a:cxnLst/>
            <a:rect l="l" t="t" r="r" b="b"/>
            <a:pathLst>
              <a:path w="6974237" h="4114800">
                <a:moveTo>
                  <a:pt x="0" y="0"/>
                </a:moveTo>
                <a:lnTo>
                  <a:pt x="6974237" y="0"/>
                </a:lnTo>
                <a:lnTo>
                  <a:pt x="6974237" y="4114800"/>
                </a:lnTo>
                <a:lnTo>
                  <a:pt x="0" y="41148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6877050" y="4263882"/>
            <a:ext cx="4533900"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做产品设计、技术开发，需要研究吗？</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4" name="TextBox 4"/>
          <p:cNvSpPr txBox="1"/>
          <p:nvPr/>
        </p:nvSpPr>
        <p:spPr>
          <a:xfrm>
            <a:off x="6343650" y="5883505"/>
            <a:ext cx="5600700"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带着理论出发指导实践、带着经验思考审视理论</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700440"/>
            <a:ext cx="13831025" cy="6273442"/>
          </a:xfrm>
          <a:custGeom>
            <a:avLst/>
            <a:gdLst/>
            <a:ahLst/>
            <a:cxnLst/>
            <a:rect l="l" t="t" r="r" b="b"/>
            <a:pathLst>
              <a:path w="13831025" h="6273442">
                <a:moveTo>
                  <a:pt x="0" y="0"/>
                </a:moveTo>
                <a:lnTo>
                  <a:pt x="13831025" y="0"/>
                </a:lnTo>
                <a:lnTo>
                  <a:pt x="13831025" y="6273442"/>
                </a:lnTo>
                <a:lnTo>
                  <a:pt x="0" y="6273442"/>
                </a:lnTo>
                <a:lnTo>
                  <a:pt x="0" y="0"/>
                </a:lnTo>
                <a:close/>
              </a:path>
            </a:pathLst>
          </a:custGeom>
          <a:blipFill>
            <a:blip r:embed="rId1"/>
            <a:stretch>
              <a:fillRect r="-30058"/>
            </a:stretch>
          </a:blipFill>
        </p:spPr>
      </p:sp>
      <p:sp>
        <p:nvSpPr>
          <p:cNvPr id="3" name="TextBox 3"/>
          <p:cNvSpPr txBox="1"/>
          <p:nvPr/>
        </p:nvSpPr>
        <p:spPr>
          <a:xfrm>
            <a:off x="59291" y="8244697"/>
            <a:ext cx="18228709" cy="174624"/>
          </a:xfrm>
          <a:prstGeom prst="rect">
            <a:avLst/>
          </a:prstGeom>
        </p:spPr>
        <p:txBody>
          <a:bodyPr lIns="0" tIns="0" rIns="0" bIns="0" rtlCol="0" anchor="t">
            <a:spAutoFit/>
          </a:bodyPr>
          <a:lstStyle/>
          <a:p>
            <a:pPr algn="ctr">
              <a:lnSpc>
                <a:spcPts val="1400"/>
              </a:lnSpc>
              <a:spcBef>
                <a:spcPct val="0"/>
              </a:spcBef>
            </a:pPr>
            <a:r>
              <a:rPr lang="en-US" sz="10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来源：Ruowei Xiao, Zhanwei Wu &amp; Juho Hamari: Internet-of-Gamification: A Review of Literature on IoT-enabled Gamification for User Engagement, </a:t>
            </a:r>
            <a:endParaRPr lang="en-US" sz="10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4" name="TextBox 4"/>
          <p:cNvSpPr txBox="1"/>
          <p:nvPr/>
        </p:nvSpPr>
        <p:spPr>
          <a:xfrm>
            <a:off x="464449" y="450425"/>
            <a:ext cx="5737987"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产品与用户参与度 (User Engagement) 研究</a:t>
            </a:r>
            <a:endParaRPr lang="en-US" sz="21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endParaRPr>
          </a:p>
        </p:txBody>
      </p:sp>
      <p:grpSp>
        <p:nvGrpSpPr>
          <p:cNvPr id="5" name="Group 5"/>
          <p:cNvGrpSpPr/>
          <p:nvPr/>
        </p:nvGrpSpPr>
        <p:grpSpPr>
          <a:xfrm rot="0">
            <a:off x="6978390" y="5222555"/>
            <a:ext cx="1658221" cy="371306"/>
            <a:chOff x="0" y="0"/>
            <a:chExt cx="436733" cy="97792"/>
          </a:xfrm>
        </p:grpSpPr>
        <p:sp>
          <p:nvSpPr>
            <p:cNvPr id="6" name="Freeform 6"/>
            <p:cNvSpPr/>
            <p:nvPr/>
          </p:nvSpPr>
          <p:spPr>
            <a:xfrm>
              <a:off x="0" y="0"/>
              <a:ext cx="436733" cy="97792"/>
            </a:xfrm>
            <a:custGeom>
              <a:avLst/>
              <a:gdLst/>
              <a:ahLst/>
              <a:cxnLst/>
              <a:rect l="l" t="t" r="r" b="b"/>
              <a:pathLst>
                <a:path w="436733" h="97792">
                  <a:moveTo>
                    <a:pt x="48896" y="0"/>
                  </a:moveTo>
                  <a:lnTo>
                    <a:pt x="387837" y="0"/>
                  </a:lnTo>
                  <a:cubicBezTo>
                    <a:pt x="400805" y="0"/>
                    <a:pt x="413242" y="5152"/>
                    <a:pt x="422412" y="14321"/>
                  </a:cubicBezTo>
                  <a:cubicBezTo>
                    <a:pt x="431582" y="23491"/>
                    <a:pt x="436733" y="35928"/>
                    <a:pt x="436733" y="48896"/>
                  </a:cubicBezTo>
                  <a:lnTo>
                    <a:pt x="436733" y="48896"/>
                  </a:lnTo>
                  <a:cubicBezTo>
                    <a:pt x="436733" y="61864"/>
                    <a:pt x="431582" y="74301"/>
                    <a:pt x="422412" y="83471"/>
                  </a:cubicBezTo>
                  <a:cubicBezTo>
                    <a:pt x="413242" y="92641"/>
                    <a:pt x="400805" y="97792"/>
                    <a:pt x="387837" y="97792"/>
                  </a:cubicBezTo>
                  <a:lnTo>
                    <a:pt x="48896" y="97792"/>
                  </a:lnTo>
                  <a:cubicBezTo>
                    <a:pt x="35928" y="97792"/>
                    <a:pt x="23491" y="92641"/>
                    <a:pt x="14321" y="83471"/>
                  </a:cubicBezTo>
                  <a:cubicBezTo>
                    <a:pt x="5152" y="74301"/>
                    <a:pt x="0" y="61864"/>
                    <a:pt x="0" y="48896"/>
                  </a:cubicBezTo>
                  <a:lnTo>
                    <a:pt x="0" y="48896"/>
                  </a:lnTo>
                  <a:cubicBezTo>
                    <a:pt x="0" y="35928"/>
                    <a:pt x="5152" y="23491"/>
                    <a:pt x="14321" y="14321"/>
                  </a:cubicBezTo>
                  <a:cubicBezTo>
                    <a:pt x="23491" y="5152"/>
                    <a:pt x="35928" y="0"/>
                    <a:pt x="48896" y="0"/>
                  </a:cubicBezTo>
                  <a:close/>
                </a:path>
              </a:pathLst>
            </a:custGeom>
            <a:solidFill>
              <a:srgbClr val="000000">
                <a:alpha val="0"/>
              </a:srgbClr>
            </a:solidFill>
            <a:ln w="38100" cap="sq">
              <a:solidFill>
                <a:srgbClr val="FFDE59"/>
              </a:solidFill>
              <a:prstDash val="solid"/>
              <a:miter/>
            </a:ln>
          </p:spPr>
        </p:sp>
        <p:sp>
          <p:nvSpPr>
            <p:cNvPr id="7" name="TextBox 7"/>
            <p:cNvSpPr txBox="1"/>
            <p:nvPr/>
          </p:nvSpPr>
          <p:spPr>
            <a:xfrm>
              <a:off x="0" y="-47625"/>
              <a:ext cx="436733" cy="145417"/>
            </a:xfrm>
            <a:prstGeom prst="rect">
              <a:avLst/>
            </a:prstGeom>
          </p:spPr>
          <p:txBody>
            <a:bodyPr lIns="50800" tIns="50800" rIns="50800" bIns="50800" rtlCol="0" anchor="ctr"/>
            <a:lstStyle/>
            <a:p>
              <a:pPr algn="ctr">
                <a:lnSpc>
                  <a:spcPts val="2940"/>
                </a:lnSpc>
              </a:pPr>
            </a:p>
          </p:txBody>
        </p:sp>
      </p:grpSp>
      <p:grpSp>
        <p:nvGrpSpPr>
          <p:cNvPr id="8" name="Group 8"/>
          <p:cNvGrpSpPr/>
          <p:nvPr/>
        </p:nvGrpSpPr>
        <p:grpSpPr>
          <a:xfrm rot="0">
            <a:off x="6360002" y="5622436"/>
            <a:ext cx="1658221" cy="371306"/>
            <a:chOff x="0" y="0"/>
            <a:chExt cx="436733" cy="97792"/>
          </a:xfrm>
        </p:grpSpPr>
        <p:sp>
          <p:nvSpPr>
            <p:cNvPr id="9" name="Freeform 9"/>
            <p:cNvSpPr/>
            <p:nvPr/>
          </p:nvSpPr>
          <p:spPr>
            <a:xfrm>
              <a:off x="0" y="0"/>
              <a:ext cx="436733" cy="97792"/>
            </a:xfrm>
            <a:custGeom>
              <a:avLst/>
              <a:gdLst/>
              <a:ahLst/>
              <a:cxnLst/>
              <a:rect l="l" t="t" r="r" b="b"/>
              <a:pathLst>
                <a:path w="436733" h="97792">
                  <a:moveTo>
                    <a:pt x="48896" y="0"/>
                  </a:moveTo>
                  <a:lnTo>
                    <a:pt x="387837" y="0"/>
                  </a:lnTo>
                  <a:cubicBezTo>
                    <a:pt x="400805" y="0"/>
                    <a:pt x="413242" y="5152"/>
                    <a:pt x="422412" y="14321"/>
                  </a:cubicBezTo>
                  <a:cubicBezTo>
                    <a:pt x="431582" y="23491"/>
                    <a:pt x="436733" y="35928"/>
                    <a:pt x="436733" y="48896"/>
                  </a:cubicBezTo>
                  <a:lnTo>
                    <a:pt x="436733" y="48896"/>
                  </a:lnTo>
                  <a:cubicBezTo>
                    <a:pt x="436733" y="61864"/>
                    <a:pt x="431582" y="74301"/>
                    <a:pt x="422412" y="83471"/>
                  </a:cubicBezTo>
                  <a:cubicBezTo>
                    <a:pt x="413242" y="92641"/>
                    <a:pt x="400805" y="97792"/>
                    <a:pt x="387837" y="97792"/>
                  </a:cubicBezTo>
                  <a:lnTo>
                    <a:pt x="48896" y="97792"/>
                  </a:lnTo>
                  <a:cubicBezTo>
                    <a:pt x="35928" y="97792"/>
                    <a:pt x="23491" y="92641"/>
                    <a:pt x="14321" y="83471"/>
                  </a:cubicBezTo>
                  <a:cubicBezTo>
                    <a:pt x="5152" y="74301"/>
                    <a:pt x="0" y="61864"/>
                    <a:pt x="0" y="48896"/>
                  </a:cubicBezTo>
                  <a:lnTo>
                    <a:pt x="0" y="48896"/>
                  </a:lnTo>
                  <a:cubicBezTo>
                    <a:pt x="0" y="35928"/>
                    <a:pt x="5152" y="23491"/>
                    <a:pt x="14321" y="14321"/>
                  </a:cubicBezTo>
                  <a:cubicBezTo>
                    <a:pt x="23491" y="5152"/>
                    <a:pt x="35928" y="0"/>
                    <a:pt x="48896" y="0"/>
                  </a:cubicBezTo>
                  <a:close/>
                </a:path>
              </a:pathLst>
            </a:custGeom>
            <a:solidFill>
              <a:srgbClr val="000000">
                <a:alpha val="0"/>
              </a:srgbClr>
            </a:solidFill>
            <a:ln w="38100" cap="sq">
              <a:solidFill>
                <a:srgbClr val="FFDE59"/>
              </a:solidFill>
              <a:prstDash val="solid"/>
              <a:miter/>
            </a:ln>
          </p:spPr>
        </p:sp>
        <p:sp>
          <p:nvSpPr>
            <p:cNvPr id="10" name="TextBox 10"/>
            <p:cNvSpPr txBox="1"/>
            <p:nvPr/>
          </p:nvSpPr>
          <p:spPr>
            <a:xfrm>
              <a:off x="0" y="-47625"/>
              <a:ext cx="436733" cy="145417"/>
            </a:xfrm>
            <a:prstGeom prst="rect">
              <a:avLst/>
            </a:prstGeom>
          </p:spPr>
          <p:txBody>
            <a:bodyPr lIns="50800" tIns="50800" rIns="50800" bIns="50800" rtlCol="0" anchor="ctr"/>
            <a:lstStyle/>
            <a:p>
              <a:pPr algn="ctr">
                <a:lnSpc>
                  <a:spcPts val="2940"/>
                </a:lnSpc>
              </a:pPr>
            </a:p>
          </p:txBody>
        </p:sp>
      </p:grpSp>
      <p:grpSp>
        <p:nvGrpSpPr>
          <p:cNvPr id="11" name="Group 11"/>
          <p:cNvGrpSpPr/>
          <p:nvPr/>
        </p:nvGrpSpPr>
        <p:grpSpPr>
          <a:xfrm rot="0">
            <a:off x="8771186" y="5436783"/>
            <a:ext cx="1885505" cy="806109"/>
            <a:chOff x="0" y="0"/>
            <a:chExt cx="496594" cy="212309"/>
          </a:xfrm>
        </p:grpSpPr>
        <p:sp>
          <p:nvSpPr>
            <p:cNvPr id="12" name="Freeform 12"/>
            <p:cNvSpPr/>
            <p:nvPr/>
          </p:nvSpPr>
          <p:spPr>
            <a:xfrm>
              <a:off x="0" y="0"/>
              <a:ext cx="496594" cy="212309"/>
            </a:xfrm>
            <a:custGeom>
              <a:avLst/>
              <a:gdLst/>
              <a:ahLst/>
              <a:cxnLst/>
              <a:rect l="l" t="t" r="r" b="b"/>
              <a:pathLst>
                <a:path w="496594" h="212309">
                  <a:moveTo>
                    <a:pt x="69802" y="0"/>
                  </a:moveTo>
                  <a:lnTo>
                    <a:pt x="426791" y="0"/>
                  </a:lnTo>
                  <a:cubicBezTo>
                    <a:pt x="445304" y="0"/>
                    <a:pt x="463059" y="7354"/>
                    <a:pt x="476149" y="20445"/>
                  </a:cubicBezTo>
                  <a:cubicBezTo>
                    <a:pt x="489240" y="33535"/>
                    <a:pt x="496594" y="51290"/>
                    <a:pt x="496594" y="69802"/>
                  </a:cubicBezTo>
                  <a:lnTo>
                    <a:pt x="496594" y="142506"/>
                  </a:lnTo>
                  <a:cubicBezTo>
                    <a:pt x="496594" y="161019"/>
                    <a:pt x="489240" y="178774"/>
                    <a:pt x="476149" y="191864"/>
                  </a:cubicBezTo>
                  <a:cubicBezTo>
                    <a:pt x="463059" y="204954"/>
                    <a:pt x="445304" y="212309"/>
                    <a:pt x="426791" y="212309"/>
                  </a:cubicBezTo>
                  <a:lnTo>
                    <a:pt x="69802" y="212309"/>
                  </a:lnTo>
                  <a:cubicBezTo>
                    <a:pt x="51290" y="212309"/>
                    <a:pt x="33535" y="204954"/>
                    <a:pt x="20445" y="191864"/>
                  </a:cubicBezTo>
                  <a:cubicBezTo>
                    <a:pt x="7354" y="178774"/>
                    <a:pt x="0" y="161019"/>
                    <a:pt x="0" y="142506"/>
                  </a:cubicBezTo>
                  <a:lnTo>
                    <a:pt x="0" y="69802"/>
                  </a:lnTo>
                  <a:cubicBezTo>
                    <a:pt x="0" y="51290"/>
                    <a:pt x="7354" y="33535"/>
                    <a:pt x="20445" y="20445"/>
                  </a:cubicBezTo>
                  <a:cubicBezTo>
                    <a:pt x="33535" y="7354"/>
                    <a:pt x="51290" y="0"/>
                    <a:pt x="69802" y="0"/>
                  </a:cubicBezTo>
                  <a:close/>
                </a:path>
              </a:pathLst>
            </a:custGeom>
            <a:solidFill>
              <a:srgbClr val="000000">
                <a:alpha val="0"/>
              </a:srgbClr>
            </a:solidFill>
            <a:ln w="38100" cap="sq">
              <a:solidFill>
                <a:srgbClr val="FFDE59"/>
              </a:solidFill>
              <a:prstDash val="solid"/>
              <a:miter/>
            </a:ln>
          </p:spPr>
        </p:sp>
        <p:sp>
          <p:nvSpPr>
            <p:cNvPr id="13" name="TextBox 13"/>
            <p:cNvSpPr txBox="1"/>
            <p:nvPr/>
          </p:nvSpPr>
          <p:spPr>
            <a:xfrm>
              <a:off x="0" y="-47625"/>
              <a:ext cx="496594" cy="259934"/>
            </a:xfrm>
            <a:prstGeom prst="rect">
              <a:avLst/>
            </a:prstGeom>
          </p:spPr>
          <p:txBody>
            <a:bodyPr lIns="50800" tIns="50800" rIns="50800" bIns="50800" rtlCol="0" anchor="ctr"/>
            <a:lstStyle/>
            <a:p>
              <a:pPr algn="ctr">
                <a:lnSpc>
                  <a:spcPts val="2940"/>
                </a:lnSpc>
              </a:pPr>
            </a:p>
          </p:txBody>
        </p:sp>
      </p:grpSp>
      <p:grpSp>
        <p:nvGrpSpPr>
          <p:cNvPr id="14" name="Group 14"/>
          <p:cNvGrpSpPr/>
          <p:nvPr/>
        </p:nvGrpSpPr>
        <p:grpSpPr>
          <a:xfrm rot="0">
            <a:off x="8636611" y="4159481"/>
            <a:ext cx="3703774" cy="371306"/>
            <a:chOff x="0" y="0"/>
            <a:chExt cx="975480" cy="97792"/>
          </a:xfrm>
        </p:grpSpPr>
        <p:sp>
          <p:nvSpPr>
            <p:cNvPr id="15" name="Freeform 15"/>
            <p:cNvSpPr/>
            <p:nvPr/>
          </p:nvSpPr>
          <p:spPr>
            <a:xfrm>
              <a:off x="0" y="0"/>
              <a:ext cx="975480" cy="97792"/>
            </a:xfrm>
            <a:custGeom>
              <a:avLst/>
              <a:gdLst/>
              <a:ahLst/>
              <a:cxnLst/>
              <a:rect l="l" t="t" r="r" b="b"/>
              <a:pathLst>
                <a:path w="975480" h="97792">
                  <a:moveTo>
                    <a:pt x="35535" y="0"/>
                  </a:moveTo>
                  <a:lnTo>
                    <a:pt x="939945" y="0"/>
                  </a:lnTo>
                  <a:cubicBezTo>
                    <a:pt x="959570" y="0"/>
                    <a:pt x="975480" y="15909"/>
                    <a:pt x="975480" y="35535"/>
                  </a:cubicBezTo>
                  <a:lnTo>
                    <a:pt x="975480" y="62258"/>
                  </a:lnTo>
                  <a:cubicBezTo>
                    <a:pt x="975480" y="71682"/>
                    <a:pt x="971736" y="80721"/>
                    <a:pt x="965072" y="87385"/>
                  </a:cubicBezTo>
                  <a:cubicBezTo>
                    <a:pt x="958408" y="94049"/>
                    <a:pt x="949369" y="97792"/>
                    <a:pt x="939945" y="97792"/>
                  </a:cubicBezTo>
                  <a:lnTo>
                    <a:pt x="35535" y="97792"/>
                  </a:lnTo>
                  <a:cubicBezTo>
                    <a:pt x="15909" y="97792"/>
                    <a:pt x="0" y="81883"/>
                    <a:pt x="0" y="62258"/>
                  </a:cubicBezTo>
                  <a:lnTo>
                    <a:pt x="0" y="35535"/>
                  </a:lnTo>
                  <a:cubicBezTo>
                    <a:pt x="0" y="26110"/>
                    <a:pt x="3744" y="17072"/>
                    <a:pt x="10408" y="10408"/>
                  </a:cubicBezTo>
                  <a:cubicBezTo>
                    <a:pt x="17072" y="3744"/>
                    <a:pt x="26110" y="0"/>
                    <a:pt x="35535" y="0"/>
                  </a:cubicBezTo>
                  <a:close/>
                </a:path>
              </a:pathLst>
            </a:custGeom>
            <a:solidFill>
              <a:srgbClr val="000000">
                <a:alpha val="0"/>
              </a:srgbClr>
            </a:solidFill>
            <a:ln w="38100" cap="sq">
              <a:solidFill>
                <a:srgbClr val="FFDE59"/>
              </a:solidFill>
              <a:prstDash val="solid"/>
              <a:miter/>
            </a:ln>
          </p:spPr>
        </p:sp>
        <p:sp>
          <p:nvSpPr>
            <p:cNvPr id="16" name="TextBox 16"/>
            <p:cNvSpPr txBox="1"/>
            <p:nvPr/>
          </p:nvSpPr>
          <p:spPr>
            <a:xfrm>
              <a:off x="0" y="-47625"/>
              <a:ext cx="975480" cy="145417"/>
            </a:xfrm>
            <a:prstGeom prst="rect">
              <a:avLst/>
            </a:prstGeom>
          </p:spPr>
          <p:txBody>
            <a:bodyPr lIns="50800" tIns="50800" rIns="50800" bIns="50800" rtlCol="0" anchor="ctr"/>
            <a:lstStyle/>
            <a:p>
              <a:pPr algn="ctr">
                <a:lnSpc>
                  <a:spcPts val="2940"/>
                </a:lnSpc>
              </a:p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73255" y="1717973"/>
            <a:ext cx="2789115" cy="6356958"/>
          </a:xfrm>
          <a:custGeom>
            <a:avLst/>
            <a:gdLst/>
            <a:ahLst/>
            <a:cxnLst/>
            <a:rect l="l" t="t" r="r" b="b"/>
            <a:pathLst>
              <a:path w="2789115" h="6356958">
                <a:moveTo>
                  <a:pt x="0" y="0"/>
                </a:moveTo>
                <a:lnTo>
                  <a:pt x="2789115" y="0"/>
                </a:lnTo>
                <a:lnTo>
                  <a:pt x="2789115" y="6356959"/>
                </a:lnTo>
                <a:lnTo>
                  <a:pt x="0" y="6356959"/>
                </a:lnTo>
                <a:lnTo>
                  <a:pt x="0" y="0"/>
                </a:lnTo>
                <a:close/>
              </a:path>
            </a:pathLst>
          </a:custGeom>
          <a:blipFill>
            <a:blip r:embed="rId1"/>
            <a:stretch>
              <a:fillRect/>
            </a:stretch>
          </a:blipFill>
        </p:spPr>
      </p:sp>
      <p:sp>
        <p:nvSpPr>
          <p:cNvPr id="3" name="Freeform 3"/>
          <p:cNvSpPr/>
          <p:nvPr/>
        </p:nvSpPr>
        <p:spPr>
          <a:xfrm>
            <a:off x="6909481" y="1717973"/>
            <a:ext cx="2789115" cy="6356958"/>
          </a:xfrm>
          <a:custGeom>
            <a:avLst/>
            <a:gdLst/>
            <a:ahLst/>
            <a:cxnLst/>
            <a:rect l="l" t="t" r="r" b="b"/>
            <a:pathLst>
              <a:path w="2789115" h="6356958">
                <a:moveTo>
                  <a:pt x="0" y="0"/>
                </a:moveTo>
                <a:lnTo>
                  <a:pt x="2789115" y="0"/>
                </a:lnTo>
                <a:lnTo>
                  <a:pt x="2789115" y="6356959"/>
                </a:lnTo>
                <a:lnTo>
                  <a:pt x="0" y="6356959"/>
                </a:lnTo>
                <a:lnTo>
                  <a:pt x="0" y="0"/>
                </a:lnTo>
                <a:close/>
              </a:path>
            </a:pathLst>
          </a:custGeom>
          <a:blipFill>
            <a:blip r:embed="rId2"/>
            <a:stretch>
              <a:fillRect/>
            </a:stretch>
          </a:blipFill>
        </p:spPr>
      </p:sp>
      <p:sp>
        <p:nvSpPr>
          <p:cNvPr id="4" name="TextBox 4"/>
          <p:cNvSpPr txBox="1"/>
          <p:nvPr/>
        </p:nvSpPr>
        <p:spPr>
          <a:xfrm>
            <a:off x="2827433" y="519599"/>
            <a:ext cx="5737987"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用户体验与游戏化设计 (Gamification) 研究</a:t>
            </a:r>
            <a:endParaRPr lang="en-US" sz="21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endParaRPr>
          </a:p>
        </p:txBody>
      </p:sp>
      <p:sp>
        <p:nvSpPr>
          <p:cNvPr id="5" name="TextBox 5"/>
          <p:cNvSpPr txBox="1"/>
          <p:nvPr/>
        </p:nvSpPr>
        <p:spPr>
          <a:xfrm>
            <a:off x="10633907" y="2381433"/>
            <a:ext cx="6832913" cy="1851659"/>
          </a:xfrm>
          <a:prstGeom prst="rect">
            <a:avLst/>
          </a:prstGeom>
        </p:spPr>
        <p:txBody>
          <a:bodyPr lIns="0" tIns="0" rIns="0" bIns="0" rtlCol="0" anchor="t">
            <a:spAutoFit/>
          </a:bodyPr>
          <a:lstStyle/>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Gamification refers to a design approach of enhancing services and systems with </a:t>
            </a:r>
            <a:r>
              <a:rPr lang="en-US" sz="2100">
                <a:solidFill>
                  <a:srgbClr val="5E17EB"/>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affordances</a:t>
            </a: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for experiences similar to those created by games (Koivisto &amp; Hamari, 2019)*. </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6" name="TextBox 6"/>
          <p:cNvSpPr txBox="1"/>
          <p:nvPr/>
        </p:nvSpPr>
        <p:spPr>
          <a:xfrm>
            <a:off x="156821" y="9906690"/>
            <a:ext cx="11079212" cy="264159"/>
          </a:xfrm>
          <a:prstGeom prst="rect">
            <a:avLst/>
          </a:prstGeom>
        </p:spPr>
        <p:txBody>
          <a:bodyPr lIns="0" tIns="0" rIns="0" bIns="0" rtlCol="0" anchor="t">
            <a:spAutoFit/>
          </a:bodyPr>
          <a:lstStyle/>
          <a:p>
            <a:pPr algn="ctr">
              <a:lnSpc>
                <a:spcPts val="2240"/>
              </a:lnSpc>
              <a:spcBef>
                <a:spcPct val="0"/>
              </a:spcBef>
            </a:pPr>
            <a:r>
              <a:rPr lang="en-US" sz="16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a:t>
            </a:r>
            <a:r>
              <a:rPr lang="en-US" sz="16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Koivisto, J., &amp; Hamari, J. (2019). The rise of motivational information systems: A review of gamification research. </a:t>
            </a:r>
            <a:endParaRPr lang="en-US" sz="16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7" name="TextBox 7"/>
          <p:cNvSpPr txBox="1"/>
          <p:nvPr/>
        </p:nvSpPr>
        <p:spPr>
          <a:xfrm>
            <a:off x="1520012" y="8206646"/>
            <a:ext cx="2895600" cy="198119"/>
          </a:xfrm>
          <a:prstGeom prst="rect">
            <a:avLst/>
          </a:prstGeom>
        </p:spPr>
        <p:txBody>
          <a:bodyPr lIns="0" tIns="0" rIns="0" bIns="0" rtlCol="0" anchor="t">
            <a:spAutoFit/>
          </a:bodyPr>
          <a:lstStyle/>
          <a:p>
            <a:pPr algn="ctr">
              <a:lnSpc>
                <a:spcPts val="1680"/>
              </a:lnSpc>
              <a:spcBef>
                <a:spcPct val="0"/>
              </a:spcBef>
            </a:pPr>
            <a:r>
              <a:rPr lang="en-US" sz="12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某流行的帮助用户做计划并执行计划的软件</a:t>
            </a:r>
            <a:endParaRPr lang="en-US" sz="12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8" name="TextBox 8"/>
          <p:cNvSpPr txBox="1"/>
          <p:nvPr/>
        </p:nvSpPr>
        <p:spPr>
          <a:xfrm>
            <a:off x="7641196" y="8117112"/>
            <a:ext cx="1219200" cy="198119"/>
          </a:xfrm>
          <a:prstGeom prst="rect">
            <a:avLst/>
          </a:prstGeom>
        </p:spPr>
        <p:txBody>
          <a:bodyPr lIns="0" tIns="0" rIns="0" bIns="0" rtlCol="0" anchor="t">
            <a:spAutoFit/>
          </a:bodyPr>
          <a:lstStyle/>
          <a:p>
            <a:pPr algn="ctr">
              <a:lnSpc>
                <a:spcPts val="1680"/>
              </a:lnSpc>
              <a:spcBef>
                <a:spcPct val="0"/>
              </a:spcBef>
            </a:pPr>
            <a:r>
              <a:rPr lang="en-US" sz="12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某流行的记账软件</a:t>
            </a:r>
            <a:endParaRPr lang="en-US" sz="12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9" name="TextBox 9"/>
          <p:cNvSpPr txBox="1"/>
          <p:nvPr/>
        </p:nvSpPr>
        <p:spPr>
          <a:xfrm>
            <a:off x="10633907" y="4616412"/>
            <a:ext cx="1333500"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沉浸式体验</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0" name="TextBox 10"/>
          <p:cNvSpPr txBox="1"/>
          <p:nvPr/>
        </p:nvSpPr>
        <p:spPr>
          <a:xfrm>
            <a:off x="10633907" y="6281924"/>
            <a:ext cx="3467100"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游戏化机制设计带来的内驱力</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1" name="TextBox 11"/>
          <p:cNvSpPr txBox="1"/>
          <p:nvPr/>
        </p:nvSpPr>
        <p:spPr>
          <a:xfrm>
            <a:off x="10633907" y="5451475"/>
            <a:ext cx="1600200"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进入心流体验</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2" name="TextBox 12"/>
          <p:cNvSpPr txBox="1"/>
          <p:nvPr/>
        </p:nvSpPr>
        <p:spPr>
          <a:xfrm>
            <a:off x="10633907" y="7116987"/>
            <a:ext cx="4533900"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借助游戏的反馈以实现更好的目标设置</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3" name="TextBox 13"/>
          <p:cNvSpPr txBox="1"/>
          <p:nvPr/>
        </p:nvSpPr>
        <p:spPr>
          <a:xfrm>
            <a:off x="10671709" y="8676229"/>
            <a:ext cx="1257895"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4" name="TextBox 14"/>
          <p:cNvSpPr txBox="1"/>
          <p:nvPr/>
        </p:nvSpPr>
        <p:spPr>
          <a:xfrm>
            <a:off x="10633907" y="7929470"/>
            <a:ext cx="1600200"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建立情感联系</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909481" y="1717973"/>
            <a:ext cx="2789115" cy="6356958"/>
          </a:xfrm>
          <a:custGeom>
            <a:avLst/>
            <a:gdLst/>
            <a:ahLst/>
            <a:cxnLst/>
            <a:rect l="l" t="t" r="r" b="b"/>
            <a:pathLst>
              <a:path w="2789115" h="6356958">
                <a:moveTo>
                  <a:pt x="0" y="0"/>
                </a:moveTo>
                <a:lnTo>
                  <a:pt x="2789115" y="0"/>
                </a:lnTo>
                <a:lnTo>
                  <a:pt x="2789115" y="6356959"/>
                </a:lnTo>
                <a:lnTo>
                  <a:pt x="0" y="6356959"/>
                </a:lnTo>
                <a:lnTo>
                  <a:pt x="0" y="0"/>
                </a:lnTo>
                <a:close/>
              </a:path>
            </a:pathLst>
          </a:custGeom>
          <a:blipFill>
            <a:blip r:embed="rId1"/>
            <a:stretch>
              <a:fillRect/>
            </a:stretch>
          </a:blipFill>
        </p:spPr>
      </p:sp>
      <p:sp>
        <p:nvSpPr>
          <p:cNvPr id="3" name="Freeform 3"/>
          <p:cNvSpPr/>
          <p:nvPr/>
        </p:nvSpPr>
        <p:spPr>
          <a:xfrm>
            <a:off x="1573255" y="1717973"/>
            <a:ext cx="2789115" cy="6356958"/>
          </a:xfrm>
          <a:custGeom>
            <a:avLst/>
            <a:gdLst/>
            <a:ahLst/>
            <a:cxnLst/>
            <a:rect l="l" t="t" r="r" b="b"/>
            <a:pathLst>
              <a:path w="2789115" h="6356958">
                <a:moveTo>
                  <a:pt x="0" y="0"/>
                </a:moveTo>
                <a:lnTo>
                  <a:pt x="2789115" y="0"/>
                </a:lnTo>
                <a:lnTo>
                  <a:pt x="2789115" y="6356959"/>
                </a:lnTo>
                <a:lnTo>
                  <a:pt x="0" y="6356959"/>
                </a:lnTo>
                <a:lnTo>
                  <a:pt x="0" y="0"/>
                </a:lnTo>
                <a:close/>
              </a:path>
            </a:pathLst>
          </a:custGeom>
          <a:blipFill>
            <a:blip r:embed="rId2"/>
            <a:stretch>
              <a:fillRect/>
            </a:stretch>
          </a:blipFill>
        </p:spPr>
      </p:sp>
      <p:sp>
        <p:nvSpPr>
          <p:cNvPr id="4" name="TextBox 4"/>
          <p:cNvSpPr txBox="1"/>
          <p:nvPr/>
        </p:nvSpPr>
        <p:spPr>
          <a:xfrm>
            <a:off x="2827433" y="519599"/>
            <a:ext cx="5737987"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探索面向新生代的投资者教育路径</a:t>
            </a:r>
            <a:endParaRPr lang="en-US" sz="21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endParaRPr>
          </a:p>
        </p:txBody>
      </p:sp>
      <p:grpSp>
        <p:nvGrpSpPr>
          <p:cNvPr id="5" name="Group 5"/>
          <p:cNvGrpSpPr/>
          <p:nvPr/>
        </p:nvGrpSpPr>
        <p:grpSpPr>
          <a:xfrm rot="0">
            <a:off x="1573255" y="1717973"/>
            <a:ext cx="2858289" cy="6534883"/>
            <a:chOff x="0" y="0"/>
            <a:chExt cx="752800" cy="1721121"/>
          </a:xfrm>
        </p:grpSpPr>
        <p:sp>
          <p:nvSpPr>
            <p:cNvPr id="6" name="Freeform 6"/>
            <p:cNvSpPr/>
            <p:nvPr/>
          </p:nvSpPr>
          <p:spPr>
            <a:xfrm>
              <a:off x="0" y="0"/>
              <a:ext cx="752800" cy="1721121"/>
            </a:xfrm>
            <a:custGeom>
              <a:avLst/>
              <a:gdLst/>
              <a:ahLst/>
              <a:cxnLst/>
              <a:rect l="l" t="t" r="r" b="b"/>
              <a:pathLst>
                <a:path w="752800" h="1721121">
                  <a:moveTo>
                    <a:pt x="0" y="0"/>
                  </a:moveTo>
                  <a:lnTo>
                    <a:pt x="752800" y="0"/>
                  </a:lnTo>
                  <a:lnTo>
                    <a:pt x="752800" y="1721121"/>
                  </a:lnTo>
                  <a:lnTo>
                    <a:pt x="0" y="1721121"/>
                  </a:lnTo>
                  <a:close/>
                </a:path>
              </a:pathLst>
            </a:custGeom>
            <a:solidFill>
              <a:srgbClr val="000000">
                <a:alpha val="0"/>
              </a:srgbClr>
            </a:solidFill>
            <a:ln w="47625" cap="sq">
              <a:solidFill>
                <a:srgbClr val="000000">
                  <a:alpha val="13725"/>
                </a:srgbClr>
              </a:solidFill>
              <a:prstDash val="solid"/>
              <a:miter/>
            </a:ln>
          </p:spPr>
        </p:sp>
        <p:sp>
          <p:nvSpPr>
            <p:cNvPr id="7" name="TextBox 7"/>
            <p:cNvSpPr txBox="1"/>
            <p:nvPr/>
          </p:nvSpPr>
          <p:spPr>
            <a:xfrm>
              <a:off x="0" y="-47625"/>
              <a:ext cx="752800" cy="1768746"/>
            </a:xfrm>
            <a:prstGeom prst="rect">
              <a:avLst/>
            </a:prstGeom>
          </p:spPr>
          <p:txBody>
            <a:bodyPr lIns="50800" tIns="50800" rIns="50800" bIns="50800" rtlCol="0" anchor="ctr"/>
            <a:lstStyle/>
            <a:p>
              <a:pPr algn="ctr">
                <a:lnSpc>
                  <a:spcPts val="2940"/>
                </a:lnSpc>
              </a:pPr>
            </a:p>
          </p:txBody>
        </p:sp>
      </p:grpSp>
      <p:grpSp>
        <p:nvGrpSpPr>
          <p:cNvPr id="8" name="Group 8"/>
          <p:cNvGrpSpPr/>
          <p:nvPr/>
        </p:nvGrpSpPr>
        <p:grpSpPr>
          <a:xfrm rot="0">
            <a:off x="6909481" y="1717973"/>
            <a:ext cx="2789115" cy="6534883"/>
            <a:chOff x="0" y="0"/>
            <a:chExt cx="734582" cy="1721121"/>
          </a:xfrm>
        </p:grpSpPr>
        <p:sp>
          <p:nvSpPr>
            <p:cNvPr id="9" name="Freeform 9"/>
            <p:cNvSpPr/>
            <p:nvPr/>
          </p:nvSpPr>
          <p:spPr>
            <a:xfrm>
              <a:off x="0" y="0"/>
              <a:ext cx="734582" cy="1721121"/>
            </a:xfrm>
            <a:custGeom>
              <a:avLst/>
              <a:gdLst/>
              <a:ahLst/>
              <a:cxnLst/>
              <a:rect l="l" t="t" r="r" b="b"/>
              <a:pathLst>
                <a:path w="734582" h="1721121">
                  <a:moveTo>
                    <a:pt x="0" y="0"/>
                  </a:moveTo>
                  <a:lnTo>
                    <a:pt x="734582" y="0"/>
                  </a:lnTo>
                  <a:lnTo>
                    <a:pt x="734582" y="1721121"/>
                  </a:lnTo>
                  <a:lnTo>
                    <a:pt x="0" y="1721121"/>
                  </a:lnTo>
                  <a:close/>
                </a:path>
              </a:pathLst>
            </a:custGeom>
            <a:solidFill>
              <a:srgbClr val="000000">
                <a:alpha val="0"/>
              </a:srgbClr>
            </a:solidFill>
            <a:ln w="47625" cap="sq">
              <a:solidFill>
                <a:srgbClr val="000000">
                  <a:alpha val="13725"/>
                </a:srgbClr>
              </a:solidFill>
              <a:prstDash val="solid"/>
              <a:miter/>
            </a:ln>
          </p:spPr>
        </p:sp>
        <p:sp>
          <p:nvSpPr>
            <p:cNvPr id="10" name="TextBox 10"/>
            <p:cNvSpPr txBox="1"/>
            <p:nvPr/>
          </p:nvSpPr>
          <p:spPr>
            <a:xfrm>
              <a:off x="0" y="-47625"/>
              <a:ext cx="734582" cy="1768746"/>
            </a:xfrm>
            <a:prstGeom prst="rect">
              <a:avLst/>
            </a:prstGeom>
          </p:spPr>
          <p:txBody>
            <a:bodyPr lIns="50800" tIns="50800" rIns="50800" bIns="50800" rtlCol="0" anchor="ctr"/>
            <a:lstStyle/>
            <a:p>
              <a:pPr algn="ctr">
                <a:lnSpc>
                  <a:spcPts val="2940"/>
                </a:lnSpc>
              </a:pPr>
            </a:p>
          </p:txBody>
        </p:sp>
      </p:grpSp>
      <p:sp>
        <p:nvSpPr>
          <p:cNvPr id="11" name="TextBox 11"/>
          <p:cNvSpPr txBox="1"/>
          <p:nvPr/>
        </p:nvSpPr>
        <p:spPr>
          <a:xfrm>
            <a:off x="2205812" y="8344993"/>
            <a:ext cx="1524000" cy="198119"/>
          </a:xfrm>
          <a:prstGeom prst="rect">
            <a:avLst/>
          </a:prstGeom>
        </p:spPr>
        <p:txBody>
          <a:bodyPr lIns="0" tIns="0" rIns="0" bIns="0" rtlCol="0" anchor="t">
            <a:spAutoFit/>
          </a:bodyPr>
          <a:lstStyle/>
          <a:p>
            <a:pPr algn="ctr">
              <a:lnSpc>
                <a:spcPts val="1680"/>
              </a:lnSpc>
              <a:spcBef>
                <a:spcPct val="0"/>
              </a:spcBef>
            </a:pPr>
            <a:r>
              <a:rPr lang="en-US" sz="12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软件截图：广发元始股</a:t>
            </a:r>
            <a:endParaRPr lang="en-US" sz="12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2" name="TextBox 12"/>
          <p:cNvSpPr txBox="1"/>
          <p:nvPr/>
        </p:nvSpPr>
        <p:spPr>
          <a:xfrm>
            <a:off x="7542038" y="8344993"/>
            <a:ext cx="1524000" cy="198119"/>
          </a:xfrm>
          <a:prstGeom prst="rect">
            <a:avLst/>
          </a:prstGeom>
        </p:spPr>
        <p:txBody>
          <a:bodyPr lIns="0" tIns="0" rIns="0" bIns="0" rtlCol="0" anchor="t">
            <a:spAutoFit/>
          </a:bodyPr>
          <a:lstStyle/>
          <a:p>
            <a:pPr algn="ctr">
              <a:lnSpc>
                <a:spcPts val="1680"/>
              </a:lnSpc>
              <a:spcBef>
                <a:spcPct val="0"/>
              </a:spcBef>
            </a:pPr>
            <a:r>
              <a:rPr lang="en-US" sz="12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软件截图：广发元始股</a:t>
            </a:r>
            <a:endParaRPr lang="en-US" sz="12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3" name="TextBox 13"/>
          <p:cNvSpPr txBox="1"/>
          <p:nvPr/>
        </p:nvSpPr>
        <p:spPr>
          <a:xfrm>
            <a:off x="10633907" y="2381433"/>
            <a:ext cx="6832913" cy="2594609"/>
          </a:xfrm>
          <a:prstGeom prst="rect">
            <a:avLst/>
          </a:prstGeom>
        </p:spPr>
        <p:txBody>
          <a:bodyPr lIns="0" tIns="0" rIns="0" bIns="0" rtlCol="0" anchor="t">
            <a:spAutoFit/>
          </a:bodyPr>
          <a:lstStyle/>
          <a:p>
            <a:pPr algn="l">
              <a:lnSpc>
                <a:spcPts val="2940"/>
              </a:lnSpc>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新生代投资者会有新的审美偏好、期待符合年轻人习惯的交互操作逻辑。</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整体来看，新生代投资者的受教育程度与知识获取途径与前几代投资者有明显差别，这些因素会影响新生代投资者整体的投资观念。</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健康有序的市场离不开优秀的投资者，投资者教育是培养优秀投资者的重要一环。</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4" name="TextBox 14"/>
          <p:cNvSpPr txBox="1"/>
          <p:nvPr/>
        </p:nvSpPr>
        <p:spPr>
          <a:xfrm>
            <a:off x="10633907" y="6099415"/>
            <a:ext cx="1600200"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关键内容展示</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5" name="TextBox 15"/>
          <p:cNvSpPr txBox="1"/>
          <p:nvPr/>
        </p:nvSpPr>
        <p:spPr>
          <a:xfrm>
            <a:off x="10633907" y="5352656"/>
            <a:ext cx="1600200"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简洁设计展示</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6" name="TextBox 16"/>
          <p:cNvSpPr txBox="1"/>
          <p:nvPr/>
        </p:nvSpPr>
        <p:spPr>
          <a:xfrm>
            <a:off x="10633907" y="6846175"/>
            <a:ext cx="2667000"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符合年轻人的操作逻辑</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7" name="TextBox 17"/>
          <p:cNvSpPr txBox="1"/>
          <p:nvPr/>
        </p:nvSpPr>
        <p:spPr>
          <a:xfrm>
            <a:off x="10709511" y="8339693"/>
            <a:ext cx="1257895"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8" name="TextBox 18"/>
          <p:cNvSpPr txBox="1"/>
          <p:nvPr/>
        </p:nvSpPr>
        <p:spPr>
          <a:xfrm>
            <a:off x="10633907" y="7592934"/>
            <a:ext cx="2933700" cy="365759"/>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收益与风险的可信化展示</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371370"/>
            <a:ext cx="1524000" cy="405764"/>
          </a:xfrm>
          <a:prstGeom prst="rect">
            <a:avLst/>
          </a:prstGeom>
        </p:spPr>
        <p:txBody>
          <a:bodyPr lIns="0" tIns="0" rIns="0" bIns="0" rtlCol="0" anchor="t">
            <a:spAutoFit/>
          </a:bodyPr>
          <a:lstStyle/>
          <a:p>
            <a:pPr algn="ctr">
              <a:lnSpc>
                <a:spcPts val="3360"/>
              </a:lnSpc>
              <a:spcBef>
                <a:spcPct val="0"/>
              </a:spcBef>
            </a:pPr>
            <a:r>
              <a:rPr lang="en-US" sz="24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研究之目的</a:t>
            </a:r>
            <a:endParaRPr lang="en-US" sz="24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endParaRPr>
          </a:p>
        </p:txBody>
      </p:sp>
      <p:grpSp>
        <p:nvGrpSpPr>
          <p:cNvPr id="3" name="Group 3"/>
          <p:cNvGrpSpPr/>
          <p:nvPr/>
        </p:nvGrpSpPr>
        <p:grpSpPr>
          <a:xfrm rot="0">
            <a:off x="1642164" y="1851354"/>
            <a:ext cx="477278" cy="477278"/>
            <a:chOff x="0" y="0"/>
            <a:chExt cx="812800" cy="812800"/>
          </a:xfrm>
        </p:grpSpPr>
        <p:sp>
          <p:nvSpPr>
            <p:cNvPr id="4" name="Freeform 4"/>
            <p:cNvSpPr/>
            <p:nvPr/>
          </p:nvSpPr>
          <p:spPr>
            <a:xfrm>
              <a:off x="0" y="0"/>
              <a:ext cx="812800" cy="812800"/>
            </a:xfrm>
            <a:custGeom>
              <a:avLst/>
              <a:gdLst/>
              <a:ahLst/>
              <a:cxnLst/>
              <a:rect l="l" t="t" r="r" b="b"/>
              <a:pathLst>
                <a:path w="812800" h="812800">
                  <a:moveTo>
                    <a:pt x="510137" y="0"/>
                  </a:moveTo>
                  <a:lnTo>
                    <a:pt x="302663" y="0"/>
                  </a:lnTo>
                  <a:cubicBezTo>
                    <a:pt x="275787" y="0"/>
                    <a:pt x="254000" y="21787"/>
                    <a:pt x="254000" y="48663"/>
                  </a:cubicBezTo>
                  <a:lnTo>
                    <a:pt x="254000" y="205337"/>
                  </a:lnTo>
                  <a:cubicBezTo>
                    <a:pt x="254000" y="232213"/>
                    <a:pt x="232213" y="254000"/>
                    <a:pt x="205337" y="254000"/>
                  </a:cubicBezTo>
                  <a:lnTo>
                    <a:pt x="48663" y="254000"/>
                  </a:lnTo>
                  <a:cubicBezTo>
                    <a:pt x="21787" y="254000"/>
                    <a:pt x="0" y="275787"/>
                    <a:pt x="0" y="302663"/>
                  </a:cubicBezTo>
                  <a:lnTo>
                    <a:pt x="0" y="510137"/>
                  </a:lnTo>
                  <a:cubicBezTo>
                    <a:pt x="0" y="537013"/>
                    <a:pt x="21787" y="558800"/>
                    <a:pt x="48663" y="558800"/>
                  </a:cubicBezTo>
                  <a:lnTo>
                    <a:pt x="205337" y="558800"/>
                  </a:lnTo>
                  <a:cubicBezTo>
                    <a:pt x="232213" y="558800"/>
                    <a:pt x="254000" y="580587"/>
                    <a:pt x="254000" y="607463"/>
                  </a:cubicBezTo>
                  <a:lnTo>
                    <a:pt x="254000" y="764137"/>
                  </a:lnTo>
                  <a:cubicBezTo>
                    <a:pt x="254000" y="791013"/>
                    <a:pt x="275787" y="812800"/>
                    <a:pt x="302663" y="812800"/>
                  </a:cubicBezTo>
                  <a:lnTo>
                    <a:pt x="510137" y="812800"/>
                  </a:lnTo>
                  <a:cubicBezTo>
                    <a:pt x="537013" y="812800"/>
                    <a:pt x="558800" y="791013"/>
                    <a:pt x="558800" y="764137"/>
                  </a:cubicBezTo>
                  <a:lnTo>
                    <a:pt x="558800" y="607463"/>
                  </a:lnTo>
                  <a:cubicBezTo>
                    <a:pt x="558800" y="580587"/>
                    <a:pt x="580587" y="558800"/>
                    <a:pt x="607463" y="558800"/>
                  </a:cubicBezTo>
                  <a:lnTo>
                    <a:pt x="764137" y="558800"/>
                  </a:lnTo>
                  <a:cubicBezTo>
                    <a:pt x="791013" y="558800"/>
                    <a:pt x="812800" y="537013"/>
                    <a:pt x="812800" y="510137"/>
                  </a:cubicBezTo>
                  <a:lnTo>
                    <a:pt x="812800" y="302663"/>
                  </a:lnTo>
                  <a:cubicBezTo>
                    <a:pt x="812800" y="275787"/>
                    <a:pt x="791013" y="254000"/>
                    <a:pt x="764137" y="254000"/>
                  </a:cubicBezTo>
                  <a:lnTo>
                    <a:pt x="607463" y="254000"/>
                  </a:lnTo>
                  <a:cubicBezTo>
                    <a:pt x="580587" y="254000"/>
                    <a:pt x="558800" y="232213"/>
                    <a:pt x="558800" y="205337"/>
                  </a:cubicBezTo>
                  <a:lnTo>
                    <a:pt x="558800" y="48663"/>
                  </a:lnTo>
                  <a:cubicBezTo>
                    <a:pt x="558800" y="21787"/>
                    <a:pt x="537013" y="0"/>
                    <a:pt x="510137" y="0"/>
                  </a:cubicBezTo>
                  <a:close/>
                </a:path>
              </a:pathLst>
            </a:custGeom>
            <a:solidFill>
              <a:srgbClr val="FFDE59"/>
            </a:solidFill>
          </p:spPr>
        </p:sp>
        <p:sp>
          <p:nvSpPr>
            <p:cNvPr id="5" name="TextBox 5"/>
            <p:cNvSpPr txBox="1"/>
            <p:nvPr/>
          </p:nvSpPr>
          <p:spPr>
            <a:xfrm>
              <a:off x="190500" y="142875"/>
              <a:ext cx="431800" cy="479425"/>
            </a:xfrm>
            <a:prstGeom prst="rect">
              <a:avLst/>
            </a:prstGeom>
          </p:spPr>
          <p:txBody>
            <a:bodyPr lIns="50800" tIns="50800" rIns="50800" bIns="50800" rtlCol="0" anchor="ctr"/>
            <a:lstStyle/>
            <a:p>
              <a:pPr algn="ctr">
                <a:lnSpc>
                  <a:spcPts val="2940"/>
                </a:lnSpc>
              </a:pPr>
            </a:p>
          </p:txBody>
        </p:sp>
      </p:grpSp>
      <p:sp>
        <p:nvSpPr>
          <p:cNvPr id="6" name="TextBox 6"/>
          <p:cNvSpPr txBox="1"/>
          <p:nvPr/>
        </p:nvSpPr>
        <p:spPr>
          <a:xfrm>
            <a:off x="2266880" y="1882944"/>
            <a:ext cx="9117830" cy="348850"/>
          </a:xfrm>
          <a:prstGeom prst="rect">
            <a:avLst/>
          </a:prstGeom>
        </p:spPr>
        <p:txBody>
          <a:bodyPr lIns="0" tIns="0" rIns="0" bIns="0" rtlCol="0" anchor="t">
            <a:spAutoFit/>
          </a:bodyPr>
          <a:lstStyle/>
          <a:p>
            <a:pPr algn="ctr">
              <a:lnSpc>
                <a:spcPts val="2870"/>
              </a:lnSpc>
              <a:spcBef>
                <a:spcPct val="0"/>
              </a:spcBef>
            </a:pP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通过用户调研和需求分析，深入了解大众投资者在理财过程中</a:t>
            </a: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的真实痛点和需求</a:t>
            </a:r>
            <a:endPar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grpSp>
        <p:nvGrpSpPr>
          <p:cNvPr id="7" name="Group 7"/>
          <p:cNvGrpSpPr/>
          <p:nvPr/>
        </p:nvGrpSpPr>
        <p:grpSpPr>
          <a:xfrm rot="0">
            <a:off x="1642164" y="3021589"/>
            <a:ext cx="477278" cy="477278"/>
            <a:chOff x="0" y="0"/>
            <a:chExt cx="812800" cy="812800"/>
          </a:xfrm>
        </p:grpSpPr>
        <p:sp>
          <p:nvSpPr>
            <p:cNvPr id="8" name="Freeform 8"/>
            <p:cNvSpPr/>
            <p:nvPr/>
          </p:nvSpPr>
          <p:spPr>
            <a:xfrm>
              <a:off x="0" y="0"/>
              <a:ext cx="812800" cy="812800"/>
            </a:xfrm>
            <a:custGeom>
              <a:avLst/>
              <a:gdLst/>
              <a:ahLst/>
              <a:cxnLst/>
              <a:rect l="l" t="t" r="r" b="b"/>
              <a:pathLst>
                <a:path w="812800" h="812800">
                  <a:moveTo>
                    <a:pt x="510137" y="0"/>
                  </a:moveTo>
                  <a:lnTo>
                    <a:pt x="302663" y="0"/>
                  </a:lnTo>
                  <a:cubicBezTo>
                    <a:pt x="275787" y="0"/>
                    <a:pt x="254000" y="21787"/>
                    <a:pt x="254000" y="48663"/>
                  </a:cubicBezTo>
                  <a:lnTo>
                    <a:pt x="254000" y="205337"/>
                  </a:lnTo>
                  <a:cubicBezTo>
                    <a:pt x="254000" y="232213"/>
                    <a:pt x="232213" y="254000"/>
                    <a:pt x="205337" y="254000"/>
                  </a:cubicBezTo>
                  <a:lnTo>
                    <a:pt x="48663" y="254000"/>
                  </a:lnTo>
                  <a:cubicBezTo>
                    <a:pt x="21787" y="254000"/>
                    <a:pt x="0" y="275787"/>
                    <a:pt x="0" y="302663"/>
                  </a:cubicBezTo>
                  <a:lnTo>
                    <a:pt x="0" y="510137"/>
                  </a:lnTo>
                  <a:cubicBezTo>
                    <a:pt x="0" y="537013"/>
                    <a:pt x="21787" y="558800"/>
                    <a:pt x="48663" y="558800"/>
                  </a:cubicBezTo>
                  <a:lnTo>
                    <a:pt x="205337" y="558800"/>
                  </a:lnTo>
                  <a:cubicBezTo>
                    <a:pt x="232213" y="558800"/>
                    <a:pt x="254000" y="580587"/>
                    <a:pt x="254000" y="607463"/>
                  </a:cubicBezTo>
                  <a:lnTo>
                    <a:pt x="254000" y="764137"/>
                  </a:lnTo>
                  <a:cubicBezTo>
                    <a:pt x="254000" y="791013"/>
                    <a:pt x="275787" y="812800"/>
                    <a:pt x="302663" y="812800"/>
                  </a:cubicBezTo>
                  <a:lnTo>
                    <a:pt x="510137" y="812800"/>
                  </a:lnTo>
                  <a:cubicBezTo>
                    <a:pt x="537013" y="812800"/>
                    <a:pt x="558800" y="791013"/>
                    <a:pt x="558800" y="764137"/>
                  </a:cubicBezTo>
                  <a:lnTo>
                    <a:pt x="558800" y="607463"/>
                  </a:lnTo>
                  <a:cubicBezTo>
                    <a:pt x="558800" y="580587"/>
                    <a:pt x="580587" y="558800"/>
                    <a:pt x="607463" y="558800"/>
                  </a:cubicBezTo>
                  <a:lnTo>
                    <a:pt x="764137" y="558800"/>
                  </a:lnTo>
                  <a:cubicBezTo>
                    <a:pt x="791013" y="558800"/>
                    <a:pt x="812800" y="537013"/>
                    <a:pt x="812800" y="510137"/>
                  </a:cubicBezTo>
                  <a:lnTo>
                    <a:pt x="812800" y="302663"/>
                  </a:lnTo>
                  <a:cubicBezTo>
                    <a:pt x="812800" y="275787"/>
                    <a:pt x="791013" y="254000"/>
                    <a:pt x="764137" y="254000"/>
                  </a:cubicBezTo>
                  <a:lnTo>
                    <a:pt x="607463" y="254000"/>
                  </a:lnTo>
                  <a:cubicBezTo>
                    <a:pt x="580587" y="254000"/>
                    <a:pt x="558800" y="232213"/>
                    <a:pt x="558800" y="205337"/>
                  </a:cubicBezTo>
                  <a:lnTo>
                    <a:pt x="558800" y="48663"/>
                  </a:lnTo>
                  <a:cubicBezTo>
                    <a:pt x="558800" y="21787"/>
                    <a:pt x="537013" y="0"/>
                    <a:pt x="510137" y="0"/>
                  </a:cubicBezTo>
                  <a:close/>
                </a:path>
              </a:pathLst>
            </a:custGeom>
            <a:solidFill>
              <a:srgbClr val="FFDE59"/>
            </a:solidFill>
          </p:spPr>
        </p:sp>
        <p:sp>
          <p:nvSpPr>
            <p:cNvPr id="9" name="TextBox 9"/>
            <p:cNvSpPr txBox="1"/>
            <p:nvPr/>
          </p:nvSpPr>
          <p:spPr>
            <a:xfrm>
              <a:off x="190500" y="142875"/>
              <a:ext cx="431800" cy="479425"/>
            </a:xfrm>
            <a:prstGeom prst="rect">
              <a:avLst/>
            </a:prstGeom>
          </p:spPr>
          <p:txBody>
            <a:bodyPr lIns="50800" tIns="50800" rIns="50800" bIns="50800" rtlCol="0" anchor="ctr"/>
            <a:lstStyle/>
            <a:p>
              <a:pPr algn="ctr">
                <a:lnSpc>
                  <a:spcPts val="2940"/>
                </a:lnSpc>
              </a:pPr>
            </a:p>
          </p:txBody>
        </p:sp>
      </p:grpSp>
      <p:sp>
        <p:nvSpPr>
          <p:cNvPr id="10" name="TextBox 10"/>
          <p:cNvSpPr txBox="1"/>
          <p:nvPr/>
        </p:nvSpPr>
        <p:spPr>
          <a:xfrm>
            <a:off x="2266880" y="3066754"/>
            <a:ext cx="9117830" cy="348850"/>
          </a:xfrm>
          <a:prstGeom prst="rect">
            <a:avLst/>
          </a:prstGeom>
        </p:spPr>
        <p:txBody>
          <a:bodyPr lIns="0" tIns="0" rIns="0" bIns="0" rtlCol="0" anchor="t">
            <a:spAutoFit/>
          </a:bodyPr>
          <a:lstStyle/>
          <a:p>
            <a:pPr algn="ctr">
              <a:lnSpc>
                <a:spcPts val="2870"/>
              </a:lnSpc>
              <a:spcBef>
                <a:spcPct val="0"/>
              </a:spcBef>
            </a:pP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运用人机交互设计理论和方法，设计一款易用、有趣、有效的投资账户记账软件</a:t>
            </a:r>
            <a:endPar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grpSp>
        <p:nvGrpSpPr>
          <p:cNvPr id="11" name="Group 11"/>
          <p:cNvGrpSpPr/>
          <p:nvPr/>
        </p:nvGrpSpPr>
        <p:grpSpPr>
          <a:xfrm rot="0">
            <a:off x="1642164" y="4194193"/>
            <a:ext cx="477278" cy="477278"/>
            <a:chOff x="0" y="0"/>
            <a:chExt cx="812800" cy="812800"/>
          </a:xfrm>
        </p:grpSpPr>
        <p:sp>
          <p:nvSpPr>
            <p:cNvPr id="12" name="Freeform 12"/>
            <p:cNvSpPr/>
            <p:nvPr/>
          </p:nvSpPr>
          <p:spPr>
            <a:xfrm>
              <a:off x="0" y="0"/>
              <a:ext cx="812800" cy="812800"/>
            </a:xfrm>
            <a:custGeom>
              <a:avLst/>
              <a:gdLst/>
              <a:ahLst/>
              <a:cxnLst/>
              <a:rect l="l" t="t" r="r" b="b"/>
              <a:pathLst>
                <a:path w="812800" h="812800">
                  <a:moveTo>
                    <a:pt x="510137" y="0"/>
                  </a:moveTo>
                  <a:lnTo>
                    <a:pt x="302663" y="0"/>
                  </a:lnTo>
                  <a:cubicBezTo>
                    <a:pt x="275787" y="0"/>
                    <a:pt x="254000" y="21787"/>
                    <a:pt x="254000" y="48663"/>
                  </a:cubicBezTo>
                  <a:lnTo>
                    <a:pt x="254000" y="205337"/>
                  </a:lnTo>
                  <a:cubicBezTo>
                    <a:pt x="254000" y="232213"/>
                    <a:pt x="232213" y="254000"/>
                    <a:pt x="205337" y="254000"/>
                  </a:cubicBezTo>
                  <a:lnTo>
                    <a:pt x="48663" y="254000"/>
                  </a:lnTo>
                  <a:cubicBezTo>
                    <a:pt x="21787" y="254000"/>
                    <a:pt x="0" y="275787"/>
                    <a:pt x="0" y="302663"/>
                  </a:cubicBezTo>
                  <a:lnTo>
                    <a:pt x="0" y="510137"/>
                  </a:lnTo>
                  <a:cubicBezTo>
                    <a:pt x="0" y="537013"/>
                    <a:pt x="21787" y="558800"/>
                    <a:pt x="48663" y="558800"/>
                  </a:cubicBezTo>
                  <a:lnTo>
                    <a:pt x="205337" y="558800"/>
                  </a:lnTo>
                  <a:cubicBezTo>
                    <a:pt x="232213" y="558800"/>
                    <a:pt x="254000" y="580587"/>
                    <a:pt x="254000" y="607463"/>
                  </a:cubicBezTo>
                  <a:lnTo>
                    <a:pt x="254000" y="764137"/>
                  </a:lnTo>
                  <a:cubicBezTo>
                    <a:pt x="254000" y="791013"/>
                    <a:pt x="275787" y="812800"/>
                    <a:pt x="302663" y="812800"/>
                  </a:cubicBezTo>
                  <a:lnTo>
                    <a:pt x="510137" y="812800"/>
                  </a:lnTo>
                  <a:cubicBezTo>
                    <a:pt x="537013" y="812800"/>
                    <a:pt x="558800" y="791013"/>
                    <a:pt x="558800" y="764137"/>
                  </a:cubicBezTo>
                  <a:lnTo>
                    <a:pt x="558800" y="607463"/>
                  </a:lnTo>
                  <a:cubicBezTo>
                    <a:pt x="558800" y="580587"/>
                    <a:pt x="580587" y="558800"/>
                    <a:pt x="607463" y="558800"/>
                  </a:cubicBezTo>
                  <a:lnTo>
                    <a:pt x="764137" y="558800"/>
                  </a:lnTo>
                  <a:cubicBezTo>
                    <a:pt x="791013" y="558800"/>
                    <a:pt x="812800" y="537013"/>
                    <a:pt x="812800" y="510137"/>
                  </a:cubicBezTo>
                  <a:lnTo>
                    <a:pt x="812800" y="302663"/>
                  </a:lnTo>
                  <a:cubicBezTo>
                    <a:pt x="812800" y="275787"/>
                    <a:pt x="791013" y="254000"/>
                    <a:pt x="764137" y="254000"/>
                  </a:cubicBezTo>
                  <a:lnTo>
                    <a:pt x="607463" y="254000"/>
                  </a:lnTo>
                  <a:cubicBezTo>
                    <a:pt x="580587" y="254000"/>
                    <a:pt x="558800" y="232213"/>
                    <a:pt x="558800" y="205337"/>
                  </a:cubicBezTo>
                  <a:lnTo>
                    <a:pt x="558800" y="48663"/>
                  </a:lnTo>
                  <a:cubicBezTo>
                    <a:pt x="558800" y="21787"/>
                    <a:pt x="537013" y="0"/>
                    <a:pt x="510137" y="0"/>
                  </a:cubicBezTo>
                  <a:close/>
                </a:path>
              </a:pathLst>
            </a:custGeom>
            <a:solidFill>
              <a:srgbClr val="FFDE59"/>
            </a:solidFill>
          </p:spPr>
        </p:sp>
        <p:sp>
          <p:nvSpPr>
            <p:cNvPr id="13" name="TextBox 13"/>
            <p:cNvSpPr txBox="1"/>
            <p:nvPr/>
          </p:nvSpPr>
          <p:spPr>
            <a:xfrm>
              <a:off x="190500" y="142875"/>
              <a:ext cx="431800" cy="479425"/>
            </a:xfrm>
            <a:prstGeom prst="rect">
              <a:avLst/>
            </a:prstGeom>
          </p:spPr>
          <p:txBody>
            <a:bodyPr lIns="50800" tIns="50800" rIns="50800" bIns="50800" rtlCol="0" anchor="ctr"/>
            <a:lstStyle/>
            <a:p>
              <a:pPr algn="ctr">
                <a:lnSpc>
                  <a:spcPts val="2940"/>
                </a:lnSpc>
              </a:pPr>
            </a:p>
          </p:txBody>
        </p:sp>
      </p:grpSp>
      <p:sp>
        <p:nvSpPr>
          <p:cNvPr id="14" name="TextBox 14"/>
          <p:cNvSpPr txBox="1"/>
          <p:nvPr/>
        </p:nvSpPr>
        <p:spPr>
          <a:xfrm>
            <a:off x="2266880" y="4253803"/>
            <a:ext cx="8336302" cy="348850"/>
          </a:xfrm>
          <a:prstGeom prst="rect">
            <a:avLst/>
          </a:prstGeom>
        </p:spPr>
        <p:txBody>
          <a:bodyPr lIns="0" tIns="0" rIns="0" bIns="0" rtlCol="0" anchor="t">
            <a:spAutoFit/>
          </a:bodyPr>
          <a:lstStyle/>
          <a:p>
            <a:pPr algn="ctr">
              <a:lnSpc>
                <a:spcPts val="2870"/>
              </a:lnSpc>
              <a:spcBef>
                <a:spcPct val="0"/>
              </a:spcBef>
            </a:pP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验证游戏化设计在金融科技产品中的应用效果，提升用户参与度和留存率</a:t>
            </a:r>
            <a:endPar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grpSp>
        <p:nvGrpSpPr>
          <p:cNvPr id="15" name="Group 15"/>
          <p:cNvGrpSpPr/>
          <p:nvPr/>
        </p:nvGrpSpPr>
        <p:grpSpPr>
          <a:xfrm rot="0">
            <a:off x="1642164" y="5366796"/>
            <a:ext cx="477278" cy="477278"/>
            <a:chOff x="0" y="0"/>
            <a:chExt cx="812800" cy="812800"/>
          </a:xfrm>
        </p:grpSpPr>
        <p:sp>
          <p:nvSpPr>
            <p:cNvPr id="16" name="Freeform 16"/>
            <p:cNvSpPr/>
            <p:nvPr/>
          </p:nvSpPr>
          <p:spPr>
            <a:xfrm>
              <a:off x="0" y="0"/>
              <a:ext cx="812800" cy="812800"/>
            </a:xfrm>
            <a:custGeom>
              <a:avLst/>
              <a:gdLst/>
              <a:ahLst/>
              <a:cxnLst/>
              <a:rect l="l" t="t" r="r" b="b"/>
              <a:pathLst>
                <a:path w="812800" h="812800">
                  <a:moveTo>
                    <a:pt x="510137" y="0"/>
                  </a:moveTo>
                  <a:lnTo>
                    <a:pt x="302663" y="0"/>
                  </a:lnTo>
                  <a:cubicBezTo>
                    <a:pt x="275787" y="0"/>
                    <a:pt x="254000" y="21787"/>
                    <a:pt x="254000" y="48663"/>
                  </a:cubicBezTo>
                  <a:lnTo>
                    <a:pt x="254000" y="205337"/>
                  </a:lnTo>
                  <a:cubicBezTo>
                    <a:pt x="254000" y="232213"/>
                    <a:pt x="232213" y="254000"/>
                    <a:pt x="205337" y="254000"/>
                  </a:cubicBezTo>
                  <a:lnTo>
                    <a:pt x="48663" y="254000"/>
                  </a:lnTo>
                  <a:cubicBezTo>
                    <a:pt x="21787" y="254000"/>
                    <a:pt x="0" y="275787"/>
                    <a:pt x="0" y="302663"/>
                  </a:cubicBezTo>
                  <a:lnTo>
                    <a:pt x="0" y="510137"/>
                  </a:lnTo>
                  <a:cubicBezTo>
                    <a:pt x="0" y="537013"/>
                    <a:pt x="21787" y="558800"/>
                    <a:pt x="48663" y="558800"/>
                  </a:cubicBezTo>
                  <a:lnTo>
                    <a:pt x="205337" y="558800"/>
                  </a:lnTo>
                  <a:cubicBezTo>
                    <a:pt x="232213" y="558800"/>
                    <a:pt x="254000" y="580587"/>
                    <a:pt x="254000" y="607463"/>
                  </a:cubicBezTo>
                  <a:lnTo>
                    <a:pt x="254000" y="764137"/>
                  </a:lnTo>
                  <a:cubicBezTo>
                    <a:pt x="254000" y="791013"/>
                    <a:pt x="275787" y="812800"/>
                    <a:pt x="302663" y="812800"/>
                  </a:cubicBezTo>
                  <a:lnTo>
                    <a:pt x="510137" y="812800"/>
                  </a:lnTo>
                  <a:cubicBezTo>
                    <a:pt x="537013" y="812800"/>
                    <a:pt x="558800" y="791013"/>
                    <a:pt x="558800" y="764137"/>
                  </a:cubicBezTo>
                  <a:lnTo>
                    <a:pt x="558800" y="607463"/>
                  </a:lnTo>
                  <a:cubicBezTo>
                    <a:pt x="558800" y="580587"/>
                    <a:pt x="580587" y="558800"/>
                    <a:pt x="607463" y="558800"/>
                  </a:cubicBezTo>
                  <a:lnTo>
                    <a:pt x="764137" y="558800"/>
                  </a:lnTo>
                  <a:cubicBezTo>
                    <a:pt x="791013" y="558800"/>
                    <a:pt x="812800" y="537013"/>
                    <a:pt x="812800" y="510137"/>
                  </a:cubicBezTo>
                  <a:lnTo>
                    <a:pt x="812800" y="302663"/>
                  </a:lnTo>
                  <a:cubicBezTo>
                    <a:pt x="812800" y="275787"/>
                    <a:pt x="791013" y="254000"/>
                    <a:pt x="764137" y="254000"/>
                  </a:cubicBezTo>
                  <a:lnTo>
                    <a:pt x="607463" y="254000"/>
                  </a:lnTo>
                  <a:cubicBezTo>
                    <a:pt x="580587" y="254000"/>
                    <a:pt x="558800" y="232213"/>
                    <a:pt x="558800" y="205337"/>
                  </a:cubicBezTo>
                  <a:lnTo>
                    <a:pt x="558800" y="48663"/>
                  </a:lnTo>
                  <a:cubicBezTo>
                    <a:pt x="558800" y="21787"/>
                    <a:pt x="537013" y="0"/>
                    <a:pt x="510137" y="0"/>
                  </a:cubicBezTo>
                  <a:close/>
                </a:path>
              </a:pathLst>
            </a:custGeom>
            <a:solidFill>
              <a:srgbClr val="FFDE59"/>
            </a:solidFill>
          </p:spPr>
        </p:sp>
        <p:sp>
          <p:nvSpPr>
            <p:cNvPr id="17" name="TextBox 17"/>
            <p:cNvSpPr txBox="1"/>
            <p:nvPr/>
          </p:nvSpPr>
          <p:spPr>
            <a:xfrm>
              <a:off x="190500" y="142875"/>
              <a:ext cx="431800" cy="479425"/>
            </a:xfrm>
            <a:prstGeom prst="rect">
              <a:avLst/>
            </a:prstGeom>
          </p:spPr>
          <p:txBody>
            <a:bodyPr lIns="50800" tIns="50800" rIns="50800" bIns="50800" rtlCol="0" anchor="ctr"/>
            <a:lstStyle/>
            <a:p>
              <a:pPr algn="ctr">
                <a:lnSpc>
                  <a:spcPts val="2940"/>
                </a:lnSpc>
              </a:pPr>
            </a:p>
          </p:txBody>
        </p:sp>
      </p:grpSp>
      <p:sp>
        <p:nvSpPr>
          <p:cNvPr id="18" name="TextBox 18"/>
          <p:cNvSpPr txBox="1"/>
          <p:nvPr/>
        </p:nvSpPr>
        <p:spPr>
          <a:xfrm>
            <a:off x="2266880" y="5411961"/>
            <a:ext cx="7815283" cy="348850"/>
          </a:xfrm>
          <a:prstGeom prst="rect">
            <a:avLst/>
          </a:prstGeom>
        </p:spPr>
        <p:txBody>
          <a:bodyPr lIns="0" tIns="0" rIns="0" bIns="0" rtlCol="0" anchor="t">
            <a:spAutoFit/>
          </a:bodyPr>
          <a:lstStyle/>
          <a:p>
            <a:pPr algn="ctr">
              <a:lnSpc>
                <a:spcPts val="2870"/>
              </a:lnSpc>
              <a:spcBef>
                <a:spcPct val="0"/>
              </a:spcBef>
            </a:pP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通过技术手段降低投资门槛，将专业的量化回测功能下放给普通用户</a:t>
            </a:r>
            <a:endPar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371370"/>
            <a:ext cx="1524000" cy="405764"/>
          </a:xfrm>
          <a:prstGeom prst="rect">
            <a:avLst/>
          </a:prstGeom>
        </p:spPr>
        <p:txBody>
          <a:bodyPr lIns="0" tIns="0" rIns="0" bIns="0" rtlCol="0" anchor="t">
            <a:spAutoFit/>
          </a:bodyPr>
          <a:lstStyle/>
          <a:p>
            <a:pPr algn="ctr">
              <a:lnSpc>
                <a:spcPts val="3360"/>
              </a:lnSpc>
              <a:spcBef>
                <a:spcPct val="0"/>
              </a:spcBef>
            </a:pPr>
            <a:r>
              <a:rPr lang="en-US" sz="24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研究之意义</a:t>
            </a:r>
            <a:endParaRPr lang="en-US" sz="24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endParaRPr>
          </a:p>
        </p:txBody>
      </p:sp>
      <p:grpSp>
        <p:nvGrpSpPr>
          <p:cNvPr id="3" name="Group 3"/>
          <p:cNvGrpSpPr/>
          <p:nvPr/>
        </p:nvGrpSpPr>
        <p:grpSpPr>
          <a:xfrm rot="0">
            <a:off x="1642164" y="1851354"/>
            <a:ext cx="477278" cy="477278"/>
            <a:chOff x="0" y="0"/>
            <a:chExt cx="812800" cy="812800"/>
          </a:xfrm>
        </p:grpSpPr>
        <p:sp>
          <p:nvSpPr>
            <p:cNvPr id="4" name="Freeform 4"/>
            <p:cNvSpPr/>
            <p:nvPr/>
          </p:nvSpPr>
          <p:spPr>
            <a:xfrm>
              <a:off x="0" y="0"/>
              <a:ext cx="812800" cy="812800"/>
            </a:xfrm>
            <a:custGeom>
              <a:avLst/>
              <a:gdLst/>
              <a:ahLst/>
              <a:cxnLst/>
              <a:rect l="l" t="t" r="r" b="b"/>
              <a:pathLst>
                <a:path w="812800" h="812800">
                  <a:moveTo>
                    <a:pt x="510137" y="0"/>
                  </a:moveTo>
                  <a:lnTo>
                    <a:pt x="302663" y="0"/>
                  </a:lnTo>
                  <a:cubicBezTo>
                    <a:pt x="275787" y="0"/>
                    <a:pt x="254000" y="21787"/>
                    <a:pt x="254000" y="48663"/>
                  </a:cubicBezTo>
                  <a:lnTo>
                    <a:pt x="254000" y="205337"/>
                  </a:lnTo>
                  <a:cubicBezTo>
                    <a:pt x="254000" y="232213"/>
                    <a:pt x="232213" y="254000"/>
                    <a:pt x="205337" y="254000"/>
                  </a:cubicBezTo>
                  <a:lnTo>
                    <a:pt x="48663" y="254000"/>
                  </a:lnTo>
                  <a:cubicBezTo>
                    <a:pt x="21787" y="254000"/>
                    <a:pt x="0" y="275787"/>
                    <a:pt x="0" y="302663"/>
                  </a:cubicBezTo>
                  <a:lnTo>
                    <a:pt x="0" y="510137"/>
                  </a:lnTo>
                  <a:cubicBezTo>
                    <a:pt x="0" y="537013"/>
                    <a:pt x="21787" y="558800"/>
                    <a:pt x="48663" y="558800"/>
                  </a:cubicBezTo>
                  <a:lnTo>
                    <a:pt x="205337" y="558800"/>
                  </a:lnTo>
                  <a:cubicBezTo>
                    <a:pt x="232213" y="558800"/>
                    <a:pt x="254000" y="580587"/>
                    <a:pt x="254000" y="607463"/>
                  </a:cubicBezTo>
                  <a:lnTo>
                    <a:pt x="254000" y="764137"/>
                  </a:lnTo>
                  <a:cubicBezTo>
                    <a:pt x="254000" y="791013"/>
                    <a:pt x="275787" y="812800"/>
                    <a:pt x="302663" y="812800"/>
                  </a:cubicBezTo>
                  <a:lnTo>
                    <a:pt x="510137" y="812800"/>
                  </a:lnTo>
                  <a:cubicBezTo>
                    <a:pt x="537013" y="812800"/>
                    <a:pt x="558800" y="791013"/>
                    <a:pt x="558800" y="764137"/>
                  </a:cubicBezTo>
                  <a:lnTo>
                    <a:pt x="558800" y="607463"/>
                  </a:lnTo>
                  <a:cubicBezTo>
                    <a:pt x="558800" y="580587"/>
                    <a:pt x="580587" y="558800"/>
                    <a:pt x="607463" y="558800"/>
                  </a:cubicBezTo>
                  <a:lnTo>
                    <a:pt x="764137" y="558800"/>
                  </a:lnTo>
                  <a:cubicBezTo>
                    <a:pt x="791013" y="558800"/>
                    <a:pt x="812800" y="537013"/>
                    <a:pt x="812800" y="510137"/>
                  </a:cubicBezTo>
                  <a:lnTo>
                    <a:pt x="812800" y="302663"/>
                  </a:lnTo>
                  <a:cubicBezTo>
                    <a:pt x="812800" y="275787"/>
                    <a:pt x="791013" y="254000"/>
                    <a:pt x="764137" y="254000"/>
                  </a:cubicBezTo>
                  <a:lnTo>
                    <a:pt x="607463" y="254000"/>
                  </a:lnTo>
                  <a:cubicBezTo>
                    <a:pt x="580587" y="254000"/>
                    <a:pt x="558800" y="232213"/>
                    <a:pt x="558800" y="205337"/>
                  </a:cubicBezTo>
                  <a:lnTo>
                    <a:pt x="558800" y="48663"/>
                  </a:lnTo>
                  <a:cubicBezTo>
                    <a:pt x="558800" y="21787"/>
                    <a:pt x="537013" y="0"/>
                    <a:pt x="510137" y="0"/>
                  </a:cubicBezTo>
                  <a:close/>
                </a:path>
              </a:pathLst>
            </a:custGeom>
            <a:solidFill>
              <a:srgbClr val="FFDE59"/>
            </a:solidFill>
          </p:spPr>
        </p:sp>
        <p:sp>
          <p:nvSpPr>
            <p:cNvPr id="5" name="TextBox 5"/>
            <p:cNvSpPr txBox="1"/>
            <p:nvPr/>
          </p:nvSpPr>
          <p:spPr>
            <a:xfrm>
              <a:off x="190500" y="142875"/>
              <a:ext cx="431800" cy="479425"/>
            </a:xfrm>
            <a:prstGeom prst="rect">
              <a:avLst/>
            </a:prstGeom>
          </p:spPr>
          <p:txBody>
            <a:bodyPr lIns="50800" tIns="50800" rIns="50800" bIns="50800" rtlCol="0" anchor="ctr"/>
            <a:lstStyle/>
            <a:p>
              <a:pPr algn="ctr">
                <a:lnSpc>
                  <a:spcPts val="2940"/>
                </a:lnSpc>
              </a:pPr>
            </a:p>
          </p:txBody>
        </p:sp>
      </p:grpSp>
      <p:sp>
        <p:nvSpPr>
          <p:cNvPr id="6" name="TextBox 6"/>
          <p:cNvSpPr txBox="1"/>
          <p:nvPr/>
        </p:nvSpPr>
        <p:spPr>
          <a:xfrm>
            <a:off x="2236241" y="1896518"/>
            <a:ext cx="9899358" cy="348850"/>
          </a:xfrm>
          <a:prstGeom prst="rect">
            <a:avLst/>
          </a:prstGeom>
        </p:spPr>
        <p:txBody>
          <a:bodyPr lIns="0" tIns="0" rIns="0" bIns="0" rtlCol="0" anchor="t">
            <a:spAutoFit/>
          </a:bodyPr>
          <a:lstStyle/>
          <a:p>
            <a:pPr algn="ctr">
              <a:lnSpc>
                <a:spcPts val="2870"/>
              </a:lnSpc>
              <a:spcBef>
                <a:spcPct val="0"/>
              </a:spcBef>
            </a:pP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理论意义：探索游戏化设计、人机交互理论在金融科技领域的应用，丰富相关理论研究</a:t>
            </a:r>
            <a:endPar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grpSp>
        <p:nvGrpSpPr>
          <p:cNvPr id="7" name="Group 7"/>
          <p:cNvGrpSpPr/>
          <p:nvPr/>
        </p:nvGrpSpPr>
        <p:grpSpPr>
          <a:xfrm rot="0">
            <a:off x="1642164" y="3021589"/>
            <a:ext cx="477278" cy="477278"/>
            <a:chOff x="0" y="0"/>
            <a:chExt cx="812800" cy="812800"/>
          </a:xfrm>
        </p:grpSpPr>
        <p:sp>
          <p:nvSpPr>
            <p:cNvPr id="8" name="Freeform 8"/>
            <p:cNvSpPr/>
            <p:nvPr/>
          </p:nvSpPr>
          <p:spPr>
            <a:xfrm>
              <a:off x="0" y="0"/>
              <a:ext cx="812800" cy="812800"/>
            </a:xfrm>
            <a:custGeom>
              <a:avLst/>
              <a:gdLst/>
              <a:ahLst/>
              <a:cxnLst/>
              <a:rect l="l" t="t" r="r" b="b"/>
              <a:pathLst>
                <a:path w="812800" h="812800">
                  <a:moveTo>
                    <a:pt x="510137" y="0"/>
                  </a:moveTo>
                  <a:lnTo>
                    <a:pt x="302663" y="0"/>
                  </a:lnTo>
                  <a:cubicBezTo>
                    <a:pt x="275787" y="0"/>
                    <a:pt x="254000" y="21787"/>
                    <a:pt x="254000" y="48663"/>
                  </a:cubicBezTo>
                  <a:lnTo>
                    <a:pt x="254000" y="205337"/>
                  </a:lnTo>
                  <a:cubicBezTo>
                    <a:pt x="254000" y="232213"/>
                    <a:pt x="232213" y="254000"/>
                    <a:pt x="205337" y="254000"/>
                  </a:cubicBezTo>
                  <a:lnTo>
                    <a:pt x="48663" y="254000"/>
                  </a:lnTo>
                  <a:cubicBezTo>
                    <a:pt x="21787" y="254000"/>
                    <a:pt x="0" y="275787"/>
                    <a:pt x="0" y="302663"/>
                  </a:cubicBezTo>
                  <a:lnTo>
                    <a:pt x="0" y="510137"/>
                  </a:lnTo>
                  <a:cubicBezTo>
                    <a:pt x="0" y="537013"/>
                    <a:pt x="21787" y="558800"/>
                    <a:pt x="48663" y="558800"/>
                  </a:cubicBezTo>
                  <a:lnTo>
                    <a:pt x="205337" y="558800"/>
                  </a:lnTo>
                  <a:cubicBezTo>
                    <a:pt x="232213" y="558800"/>
                    <a:pt x="254000" y="580587"/>
                    <a:pt x="254000" y="607463"/>
                  </a:cubicBezTo>
                  <a:lnTo>
                    <a:pt x="254000" y="764137"/>
                  </a:lnTo>
                  <a:cubicBezTo>
                    <a:pt x="254000" y="791013"/>
                    <a:pt x="275787" y="812800"/>
                    <a:pt x="302663" y="812800"/>
                  </a:cubicBezTo>
                  <a:lnTo>
                    <a:pt x="510137" y="812800"/>
                  </a:lnTo>
                  <a:cubicBezTo>
                    <a:pt x="537013" y="812800"/>
                    <a:pt x="558800" y="791013"/>
                    <a:pt x="558800" y="764137"/>
                  </a:cubicBezTo>
                  <a:lnTo>
                    <a:pt x="558800" y="607463"/>
                  </a:lnTo>
                  <a:cubicBezTo>
                    <a:pt x="558800" y="580587"/>
                    <a:pt x="580587" y="558800"/>
                    <a:pt x="607463" y="558800"/>
                  </a:cubicBezTo>
                  <a:lnTo>
                    <a:pt x="764137" y="558800"/>
                  </a:lnTo>
                  <a:cubicBezTo>
                    <a:pt x="791013" y="558800"/>
                    <a:pt x="812800" y="537013"/>
                    <a:pt x="812800" y="510137"/>
                  </a:cubicBezTo>
                  <a:lnTo>
                    <a:pt x="812800" y="302663"/>
                  </a:lnTo>
                  <a:cubicBezTo>
                    <a:pt x="812800" y="275787"/>
                    <a:pt x="791013" y="254000"/>
                    <a:pt x="764137" y="254000"/>
                  </a:cubicBezTo>
                  <a:lnTo>
                    <a:pt x="607463" y="254000"/>
                  </a:lnTo>
                  <a:cubicBezTo>
                    <a:pt x="580587" y="254000"/>
                    <a:pt x="558800" y="232213"/>
                    <a:pt x="558800" y="205337"/>
                  </a:cubicBezTo>
                  <a:lnTo>
                    <a:pt x="558800" y="48663"/>
                  </a:lnTo>
                  <a:cubicBezTo>
                    <a:pt x="558800" y="21787"/>
                    <a:pt x="537013" y="0"/>
                    <a:pt x="510137" y="0"/>
                  </a:cubicBezTo>
                  <a:close/>
                </a:path>
              </a:pathLst>
            </a:custGeom>
            <a:solidFill>
              <a:srgbClr val="FFDE59"/>
            </a:solidFill>
          </p:spPr>
        </p:sp>
        <p:sp>
          <p:nvSpPr>
            <p:cNvPr id="9" name="TextBox 9"/>
            <p:cNvSpPr txBox="1"/>
            <p:nvPr/>
          </p:nvSpPr>
          <p:spPr>
            <a:xfrm>
              <a:off x="190500" y="142875"/>
              <a:ext cx="431800" cy="479425"/>
            </a:xfrm>
            <a:prstGeom prst="rect">
              <a:avLst/>
            </a:prstGeom>
          </p:spPr>
          <p:txBody>
            <a:bodyPr lIns="50800" tIns="50800" rIns="50800" bIns="50800" rtlCol="0" anchor="ctr"/>
            <a:lstStyle/>
            <a:p>
              <a:pPr algn="ctr">
                <a:lnSpc>
                  <a:spcPts val="2940"/>
                </a:lnSpc>
              </a:pPr>
            </a:p>
          </p:txBody>
        </p:sp>
      </p:grpSp>
      <p:sp>
        <p:nvSpPr>
          <p:cNvPr id="10" name="TextBox 10"/>
          <p:cNvSpPr txBox="1"/>
          <p:nvPr/>
        </p:nvSpPr>
        <p:spPr>
          <a:xfrm>
            <a:off x="2201654" y="3066754"/>
            <a:ext cx="8926494" cy="348850"/>
          </a:xfrm>
          <a:prstGeom prst="rect">
            <a:avLst/>
          </a:prstGeom>
        </p:spPr>
        <p:txBody>
          <a:bodyPr lIns="0" tIns="0" rIns="0" bIns="0" rtlCol="0" anchor="t">
            <a:spAutoFit/>
          </a:bodyPr>
          <a:lstStyle/>
          <a:p>
            <a:pPr algn="ctr">
              <a:lnSpc>
                <a:spcPts val="2870"/>
              </a:lnSpc>
              <a:spcBef>
                <a:spcPct val="0"/>
              </a:spcBef>
            </a:pP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实践意义：为大众投资者提供更好的理财工具，降低投资门槛，提升投资体验</a:t>
            </a:r>
            <a:endPar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grpSp>
        <p:nvGrpSpPr>
          <p:cNvPr id="11" name="Group 11"/>
          <p:cNvGrpSpPr/>
          <p:nvPr/>
        </p:nvGrpSpPr>
        <p:grpSpPr>
          <a:xfrm rot="0">
            <a:off x="1642164" y="4194193"/>
            <a:ext cx="477278" cy="477278"/>
            <a:chOff x="0" y="0"/>
            <a:chExt cx="812800" cy="812800"/>
          </a:xfrm>
        </p:grpSpPr>
        <p:sp>
          <p:nvSpPr>
            <p:cNvPr id="12" name="Freeform 12"/>
            <p:cNvSpPr/>
            <p:nvPr/>
          </p:nvSpPr>
          <p:spPr>
            <a:xfrm>
              <a:off x="0" y="0"/>
              <a:ext cx="812800" cy="812800"/>
            </a:xfrm>
            <a:custGeom>
              <a:avLst/>
              <a:gdLst/>
              <a:ahLst/>
              <a:cxnLst/>
              <a:rect l="l" t="t" r="r" b="b"/>
              <a:pathLst>
                <a:path w="812800" h="812800">
                  <a:moveTo>
                    <a:pt x="510137" y="0"/>
                  </a:moveTo>
                  <a:lnTo>
                    <a:pt x="302663" y="0"/>
                  </a:lnTo>
                  <a:cubicBezTo>
                    <a:pt x="275787" y="0"/>
                    <a:pt x="254000" y="21787"/>
                    <a:pt x="254000" y="48663"/>
                  </a:cubicBezTo>
                  <a:lnTo>
                    <a:pt x="254000" y="205337"/>
                  </a:lnTo>
                  <a:cubicBezTo>
                    <a:pt x="254000" y="232213"/>
                    <a:pt x="232213" y="254000"/>
                    <a:pt x="205337" y="254000"/>
                  </a:cubicBezTo>
                  <a:lnTo>
                    <a:pt x="48663" y="254000"/>
                  </a:lnTo>
                  <a:cubicBezTo>
                    <a:pt x="21787" y="254000"/>
                    <a:pt x="0" y="275787"/>
                    <a:pt x="0" y="302663"/>
                  </a:cubicBezTo>
                  <a:lnTo>
                    <a:pt x="0" y="510137"/>
                  </a:lnTo>
                  <a:cubicBezTo>
                    <a:pt x="0" y="537013"/>
                    <a:pt x="21787" y="558800"/>
                    <a:pt x="48663" y="558800"/>
                  </a:cubicBezTo>
                  <a:lnTo>
                    <a:pt x="205337" y="558800"/>
                  </a:lnTo>
                  <a:cubicBezTo>
                    <a:pt x="232213" y="558800"/>
                    <a:pt x="254000" y="580587"/>
                    <a:pt x="254000" y="607463"/>
                  </a:cubicBezTo>
                  <a:lnTo>
                    <a:pt x="254000" y="764137"/>
                  </a:lnTo>
                  <a:cubicBezTo>
                    <a:pt x="254000" y="791013"/>
                    <a:pt x="275787" y="812800"/>
                    <a:pt x="302663" y="812800"/>
                  </a:cubicBezTo>
                  <a:lnTo>
                    <a:pt x="510137" y="812800"/>
                  </a:lnTo>
                  <a:cubicBezTo>
                    <a:pt x="537013" y="812800"/>
                    <a:pt x="558800" y="791013"/>
                    <a:pt x="558800" y="764137"/>
                  </a:cubicBezTo>
                  <a:lnTo>
                    <a:pt x="558800" y="607463"/>
                  </a:lnTo>
                  <a:cubicBezTo>
                    <a:pt x="558800" y="580587"/>
                    <a:pt x="580587" y="558800"/>
                    <a:pt x="607463" y="558800"/>
                  </a:cubicBezTo>
                  <a:lnTo>
                    <a:pt x="764137" y="558800"/>
                  </a:lnTo>
                  <a:cubicBezTo>
                    <a:pt x="791013" y="558800"/>
                    <a:pt x="812800" y="537013"/>
                    <a:pt x="812800" y="510137"/>
                  </a:cubicBezTo>
                  <a:lnTo>
                    <a:pt x="812800" y="302663"/>
                  </a:lnTo>
                  <a:cubicBezTo>
                    <a:pt x="812800" y="275787"/>
                    <a:pt x="791013" y="254000"/>
                    <a:pt x="764137" y="254000"/>
                  </a:cubicBezTo>
                  <a:lnTo>
                    <a:pt x="607463" y="254000"/>
                  </a:lnTo>
                  <a:cubicBezTo>
                    <a:pt x="580587" y="254000"/>
                    <a:pt x="558800" y="232213"/>
                    <a:pt x="558800" y="205337"/>
                  </a:cubicBezTo>
                  <a:lnTo>
                    <a:pt x="558800" y="48663"/>
                  </a:lnTo>
                  <a:cubicBezTo>
                    <a:pt x="558800" y="21787"/>
                    <a:pt x="537013" y="0"/>
                    <a:pt x="510137" y="0"/>
                  </a:cubicBezTo>
                  <a:close/>
                </a:path>
              </a:pathLst>
            </a:custGeom>
            <a:solidFill>
              <a:srgbClr val="FFDE59"/>
            </a:solidFill>
          </p:spPr>
        </p:sp>
        <p:sp>
          <p:nvSpPr>
            <p:cNvPr id="13" name="TextBox 13"/>
            <p:cNvSpPr txBox="1"/>
            <p:nvPr/>
          </p:nvSpPr>
          <p:spPr>
            <a:xfrm>
              <a:off x="190500" y="142875"/>
              <a:ext cx="431800" cy="479425"/>
            </a:xfrm>
            <a:prstGeom prst="rect">
              <a:avLst/>
            </a:prstGeom>
          </p:spPr>
          <p:txBody>
            <a:bodyPr lIns="50800" tIns="50800" rIns="50800" bIns="50800" rtlCol="0" anchor="ctr"/>
            <a:lstStyle/>
            <a:p>
              <a:pPr algn="ctr">
                <a:lnSpc>
                  <a:spcPts val="2940"/>
                </a:lnSpc>
              </a:pPr>
            </a:p>
          </p:txBody>
        </p:sp>
      </p:grpSp>
      <p:sp>
        <p:nvSpPr>
          <p:cNvPr id="14" name="TextBox 14"/>
          <p:cNvSpPr txBox="1"/>
          <p:nvPr/>
        </p:nvSpPr>
        <p:spPr>
          <a:xfrm>
            <a:off x="2236241" y="4239357"/>
            <a:ext cx="8857321" cy="348850"/>
          </a:xfrm>
          <a:prstGeom prst="rect">
            <a:avLst/>
          </a:prstGeom>
        </p:spPr>
        <p:txBody>
          <a:bodyPr lIns="0" tIns="0" rIns="0" bIns="0" rtlCol="0" anchor="t">
            <a:spAutoFit/>
          </a:bodyPr>
          <a:lstStyle/>
          <a:p>
            <a:pPr algn="ctr">
              <a:lnSpc>
                <a:spcPts val="2870"/>
              </a:lnSpc>
              <a:spcBef>
                <a:spcPct val="0"/>
              </a:spcBef>
            </a:pP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社会意义：推动金融科技普惠化，帮助更多人建立正确的理财观念和投资能力</a:t>
            </a:r>
            <a:endPar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371370"/>
            <a:ext cx="3698018" cy="405764"/>
          </a:xfrm>
          <a:prstGeom prst="rect">
            <a:avLst/>
          </a:prstGeom>
        </p:spPr>
        <p:txBody>
          <a:bodyPr lIns="0" tIns="0" rIns="0" bIns="0" rtlCol="0" anchor="t">
            <a:spAutoFit/>
          </a:bodyPr>
          <a:lstStyle/>
          <a:p>
            <a:pPr algn="ctr">
              <a:lnSpc>
                <a:spcPts val="3360"/>
              </a:lnSpc>
              <a:spcBef>
                <a:spcPct val="0"/>
              </a:spcBef>
            </a:pPr>
            <a:r>
              <a:rPr lang="en-US" sz="24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研究方法、思路与预期成果</a:t>
            </a:r>
            <a:endParaRPr lang="en-US" sz="24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endParaRPr>
          </a:p>
        </p:txBody>
      </p:sp>
      <p:grpSp>
        <p:nvGrpSpPr>
          <p:cNvPr id="3" name="Group 3"/>
          <p:cNvGrpSpPr/>
          <p:nvPr/>
        </p:nvGrpSpPr>
        <p:grpSpPr>
          <a:xfrm rot="0">
            <a:off x="1237006" y="1353566"/>
            <a:ext cx="2658110" cy="477278"/>
            <a:chOff x="0" y="0"/>
            <a:chExt cx="3544146" cy="636371"/>
          </a:xfrm>
        </p:grpSpPr>
        <p:grpSp>
          <p:nvGrpSpPr>
            <p:cNvPr id="4" name="Group 4"/>
            <p:cNvGrpSpPr/>
            <p:nvPr/>
          </p:nvGrpSpPr>
          <p:grpSpPr>
            <a:xfrm rot="0">
              <a:off x="0" y="0"/>
              <a:ext cx="636371" cy="636371"/>
              <a:chOff x="0" y="0"/>
              <a:chExt cx="812800" cy="812800"/>
            </a:xfrm>
          </p:grpSpPr>
          <p:sp>
            <p:nvSpPr>
              <p:cNvPr id="5" name="Freeform 5"/>
              <p:cNvSpPr/>
              <p:nvPr/>
            </p:nvSpPr>
            <p:spPr>
              <a:xfrm>
                <a:off x="0" y="0"/>
                <a:ext cx="812800" cy="812800"/>
              </a:xfrm>
              <a:custGeom>
                <a:avLst/>
                <a:gdLst/>
                <a:ahLst/>
                <a:cxnLst/>
                <a:rect l="l" t="t" r="r" b="b"/>
                <a:pathLst>
                  <a:path w="812800" h="812800">
                    <a:moveTo>
                      <a:pt x="510137" y="0"/>
                    </a:moveTo>
                    <a:lnTo>
                      <a:pt x="302663" y="0"/>
                    </a:lnTo>
                    <a:cubicBezTo>
                      <a:pt x="275787" y="0"/>
                      <a:pt x="254000" y="21787"/>
                      <a:pt x="254000" y="48663"/>
                    </a:cubicBezTo>
                    <a:lnTo>
                      <a:pt x="254000" y="205337"/>
                    </a:lnTo>
                    <a:cubicBezTo>
                      <a:pt x="254000" y="232213"/>
                      <a:pt x="232213" y="254000"/>
                      <a:pt x="205337" y="254000"/>
                    </a:cubicBezTo>
                    <a:lnTo>
                      <a:pt x="48663" y="254000"/>
                    </a:lnTo>
                    <a:cubicBezTo>
                      <a:pt x="21787" y="254000"/>
                      <a:pt x="0" y="275787"/>
                      <a:pt x="0" y="302663"/>
                    </a:cubicBezTo>
                    <a:lnTo>
                      <a:pt x="0" y="510137"/>
                    </a:lnTo>
                    <a:cubicBezTo>
                      <a:pt x="0" y="537013"/>
                      <a:pt x="21787" y="558800"/>
                      <a:pt x="48663" y="558800"/>
                    </a:cubicBezTo>
                    <a:lnTo>
                      <a:pt x="205337" y="558800"/>
                    </a:lnTo>
                    <a:cubicBezTo>
                      <a:pt x="232213" y="558800"/>
                      <a:pt x="254000" y="580587"/>
                      <a:pt x="254000" y="607463"/>
                    </a:cubicBezTo>
                    <a:lnTo>
                      <a:pt x="254000" y="764137"/>
                    </a:lnTo>
                    <a:cubicBezTo>
                      <a:pt x="254000" y="791013"/>
                      <a:pt x="275787" y="812800"/>
                      <a:pt x="302663" y="812800"/>
                    </a:cubicBezTo>
                    <a:lnTo>
                      <a:pt x="510137" y="812800"/>
                    </a:lnTo>
                    <a:cubicBezTo>
                      <a:pt x="537013" y="812800"/>
                      <a:pt x="558800" y="791013"/>
                      <a:pt x="558800" y="764137"/>
                    </a:cubicBezTo>
                    <a:lnTo>
                      <a:pt x="558800" y="607463"/>
                    </a:lnTo>
                    <a:cubicBezTo>
                      <a:pt x="558800" y="580587"/>
                      <a:pt x="580587" y="558800"/>
                      <a:pt x="607463" y="558800"/>
                    </a:cubicBezTo>
                    <a:lnTo>
                      <a:pt x="764137" y="558800"/>
                    </a:lnTo>
                    <a:cubicBezTo>
                      <a:pt x="791013" y="558800"/>
                      <a:pt x="812800" y="537013"/>
                      <a:pt x="812800" y="510137"/>
                    </a:cubicBezTo>
                    <a:lnTo>
                      <a:pt x="812800" y="302663"/>
                    </a:lnTo>
                    <a:cubicBezTo>
                      <a:pt x="812800" y="275787"/>
                      <a:pt x="791013" y="254000"/>
                      <a:pt x="764137" y="254000"/>
                    </a:cubicBezTo>
                    <a:lnTo>
                      <a:pt x="607463" y="254000"/>
                    </a:lnTo>
                    <a:cubicBezTo>
                      <a:pt x="580587" y="254000"/>
                      <a:pt x="558800" y="232213"/>
                      <a:pt x="558800" y="205337"/>
                    </a:cubicBezTo>
                    <a:lnTo>
                      <a:pt x="558800" y="48663"/>
                    </a:lnTo>
                    <a:cubicBezTo>
                      <a:pt x="558800" y="21787"/>
                      <a:pt x="537013" y="0"/>
                      <a:pt x="510137" y="0"/>
                    </a:cubicBezTo>
                    <a:close/>
                  </a:path>
                </a:pathLst>
              </a:custGeom>
              <a:solidFill>
                <a:srgbClr val="FFDE59"/>
              </a:solidFill>
            </p:spPr>
          </p:sp>
          <p:sp>
            <p:nvSpPr>
              <p:cNvPr id="6" name="TextBox 6"/>
              <p:cNvSpPr txBox="1"/>
              <p:nvPr/>
            </p:nvSpPr>
            <p:spPr>
              <a:xfrm>
                <a:off x="190500" y="142875"/>
                <a:ext cx="431800" cy="479425"/>
              </a:xfrm>
              <a:prstGeom prst="rect">
                <a:avLst/>
              </a:prstGeom>
            </p:spPr>
            <p:txBody>
              <a:bodyPr lIns="50800" tIns="50800" rIns="50800" bIns="50800" rtlCol="0" anchor="ctr"/>
              <a:lstStyle/>
              <a:p>
                <a:pPr algn="ctr">
                  <a:lnSpc>
                    <a:spcPts val="2940"/>
                  </a:lnSpc>
                </a:pPr>
              </a:p>
            </p:txBody>
          </p:sp>
        </p:grpSp>
        <p:sp>
          <p:nvSpPr>
            <p:cNvPr id="7" name="TextBox 7"/>
            <p:cNvSpPr txBox="1"/>
            <p:nvPr/>
          </p:nvSpPr>
          <p:spPr>
            <a:xfrm>
              <a:off x="501227" y="72813"/>
              <a:ext cx="3042919" cy="490220"/>
            </a:xfrm>
            <a:prstGeom prst="rect">
              <a:avLst/>
            </a:prstGeom>
          </p:spPr>
          <p:txBody>
            <a:bodyPr wrap="square" lIns="0" tIns="0" rIns="0" bIns="0" rtlCol="0" anchor="t">
              <a:spAutoFit/>
            </a:bodyPr>
            <a:lstStyle/>
            <a:p>
              <a:pPr marL="442595" lvl="1" indent="-221615" algn="ctr">
                <a:lnSpc>
                  <a:spcPts val="2870"/>
                </a:lnSpc>
                <a:spcBef>
                  <a:spcPct val="0"/>
                </a:spcBef>
                <a:buAutoNum type="arabicPeriod"/>
              </a:pP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用户研究方法</a:t>
              </a:r>
              <a:endPar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grpSp>
      <p:sp>
        <p:nvSpPr>
          <p:cNvPr id="8" name="TextBox 8"/>
          <p:cNvSpPr txBox="1"/>
          <p:nvPr/>
        </p:nvSpPr>
        <p:spPr>
          <a:xfrm>
            <a:off x="2086147" y="1958530"/>
            <a:ext cx="9503718" cy="1108709"/>
          </a:xfrm>
          <a:prstGeom prst="rect">
            <a:avLst/>
          </a:prstGeom>
        </p:spPr>
        <p:txBody>
          <a:bodyPr lIns="0" tIns="0" rIns="0" bIns="0" rtlCol="0" anchor="t">
            <a:spAutoFit/>
          </a:bodyPr>
          <a:lstStyle/>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采用深度访谈法，通过结构化访谈大纲对目标用户进行一对一访谈</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已完成5位用户的访谈调研，涵盖不同收入水平、理财经验和认知程度的用户</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通过访谈验证市场痛点、用户需求和产品概念的可行性</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grpSp>
        <p:nvGrpSpPr>
          <p:cNvPr id="9" name="Group 9"/>
          <p:cNvGrpSpPr/>
          <p:nvPr/>
        </p:nvGrpSpPr>
        <p:grpSpPr>
          <a:xfrm rot="0">
            <a:off x="1237006" y="3561402"/>
            <a:ext cx="2293094" cy="477278"/>
            <a:chOff x="0" y="0"/>
            <a:chExt cx="3057459" cy="636371"/>
          </a:xfrm>
        </p:grpSpPr>
        <p:grpSp>
          <p:nvGrpSpPr>
            <p:cNvPr id="10" name="Group 10"/>
            <p:cNvGrpSpPr/>
            <p:nvPr/>
          </p:nvGrpSpPr>
          <p:grpSpPr>
            <a:xfrm rot="0">
              <a:off x="0" y="0"/>
              <a:ext cx="612611" cy="636371"/>
              <a:chOff x="0" y="0"/>
              <a:chExt cx="782453" cy="812800"/>
            </a:xfrm>
          </p:grpSpPr>
          <p:sp>
            <p:nvSpPr>
              <p:cNvPr id="11" name="Freeform 11"/>
              <p:cNvSpPr/>
              <p:nvPr/>
            </p:nvSpPr>
            <p:spPr>
              <a:xfrm>
                <a:off x="0" y="0"/>
                <a:ext cx="782453" cy="812800"/>
              </a:xfrm>
              <a:custGeom>
                <a:avLst/>
                <a:gdLst/>
                <a:ahLst/>
                <a:cxnLst/>
                <a:rect l="l" t="t" r="r" b="b"/>
                <a:pathLst>
                  <a:path w="782453" h="812800">
                    <a:moveTo>
                      <a:pt x="487386" y="0"/>
                    </a:moveTo>
                    <a:lnTo>
                      <a:pt x="295067" y="0"/>
                    </a:lnTo>
                    <a:cubicBezTo>
                      <a:pt x="267149" y="0"/>
                      <a:pt x="244516" y="22632"/>
                      <a:pt x="244516" y="50550"/>
                    </a:cubicBezTo>
                    <a:lnTo>
                      <a:pt x="244516" y="203450"/>
                    </a:lnTo>
                    <a:cubicBezTo>
                      <a:pt x="244516" y="231368"/>
                      <a:pt x="221884" y="254000"/>
                      <a:pt x="193966" y="254000"/>
                    </a:cubicBezTo>
                    <a:lnTo>
                      <a:pt x="50550" y="254000"/>
                    </a:lnTo>
                    <a:cubicBezTo>
                      <a:pt x="22632" y="254000"/>
                      <a:pt x="0" y="276632"/>
                      <a:pt x="0" y="304550"/>
                    </a:cubicBezTo>
                    <a:lnTo>
                      <a:pt x="0" y="508250"/>
                    </a:lnTo>
                    <a:cubicBezTo>
                      <a:pt x="0" y="536168"/>
                      <a:pt x="22632" y="558800"/>
                      <a:pt x="50550" y="558800"/>
                    </a:cubicBezTo>
                    <a:lnTo>
                      <a:pt x="193966" y="558800"/>
                    </a:lnTo>
                    <a:cubicBezTo>
                      <a:pt x="221884" y="558800"/>
                      <a:pt x="244516" y="581432"/>
                      <a:pt x="244516" y="609350"/>
                    </a:cubicBezTo>
                    <a:lnTo>
                      <a:pt x="244516" y="762250"/>
                    </a:lnTo>
                    <a:cubicBezTo>
                      <a:pt x="244516" y="790168"/>
                      <a:pt x="267149" y="812800"/>
                      <a:pt x="295067" y="812800"/>
                    </a:cubicBezTo>
                    <a:lnTo>
                      <a:pt x="487386" y="812800"/>
                    </a:lnTo>
                    <a:cubicBezTo>
                      <a:pt x="515304" y="812800"/>
                      <a:pt x="537936" y="790168"/>
                      <a:pt x="537936" y="762250"/>
                    </a:cubicBezTo>
                    <a:lnTo>
                      <a:pt x="537936" y="609350"/>
                    </a:lnTo>
                    <a:cubicBezTo>
                      <a:pt x="537936" y="581432"/>
                      <a:pt x="560568" y="558800"/>
                      <a:pt x="588487" y="558800"/>
                    </a:cubicBezTo>
                    <a:lnTo>
                      <a:pt x="731902" y="558800"/>
                    </a:lnTo>
                    <a:cubicBezTo>
                      <a:pt x="759821" y="558800"/>
                      <a:pt x="782453" y="536168"/>
                      <a:pt x="782453" y="508250"/>
                    </a:cubicBezTo>
                    <a:lnTo>
                      <a:pt x="782453" y="304550"/>
                    </a:lnTo>
                    <a:cubicBezTo>
                      <a:pt x="782453" y="276632"/>
                      <a:pt x="759821" y="254000"/>
                      <a:pt x="731902" y="254000"/>
                    </a:cubicBezTo>
                    <a:lnTo>
                      <a:pt x="588487" y="254000"/>
                    </a:lnTo>
                    <a:cubicBezTo>
                      <a:pt x="575080" y="254000"/>
                      <a:pt x="562222" y="248674"/>
                      <a:pt x="552742" y="239194"/>
                    </a:cubicBezTo>
                    <a:cubicBezTo>
                      <a:pt x="543262" y="229714"/>
                      <a:pt x="537936" y="216856"/>
                      <a:pt x="537936" y="203450"/>
                    </a:cubicBezTo>
                    <a:lnTo>
                      <a:pt x="537936" y="50550"/>
                    </a:lnTo>
                    <a:cubicBezTo>
                      <a:pt x="537936" y="22632"/>
                      <a:pt x="515304" y="0"/>
                      <a:pt x="487386" y="0"/>
                    </a:cubicBezTo>
                    <a:close/>
                  </a:path>
                </a:pathLst>
              </a:custGeom>
              <a:solidFill>
                <a:srgbClr val="FFDE59"/>
              </a:solidFill>
            </p:spPr>
          </p:sp>
          <p:sp>
            <p:nvSpPr>
              <p:cNvPr id="12" name="TextBox 12"/>
              <p:cNvSpPr txBox="1"/>
              <p:nvPr/>
            </p:nvSpPr>
            <p:spPr>
              <a:xfrm>
                <a:off x="183387" y="142875"/>
                <a:ext cx="415678" cy="479425"/>
              </a:xfrm>
              <a:prstGeom prst="rect">
                <a:avLst/>
              </a:prstGeom>
            </p:spPr>
            <p:txBody>
              <a:bodyPr lIns="50800" tIns="50800" rIns="50800" bIns="50800" rtlCol="0" anchor="ctr"/>
              <a:lstStyle/>
              <a:p>
                <a:pPr algn="ctr">
                  <a:lnSpc>
                    <a:spcPts val="2940"/>
                  </a:lnSpc>
                </a:pPr>
              </a:p>
            </p:txBody>
          </p:sp>
        </p:grpSp>
        <p:sp>
          <p:nvSpPr>
            <p:cNvPr id="13" name="TextBox 13"/>
            <p:cNvSpPr txBox="1"/>
            <p:nvPr/>
          </p:nvSpPr>
          <p:spPr>
            <a:xfrm>
              <a:off x="482830" y="72919"/>
              <a:ext cx="2574630" cy="452433"/>
            </a:xfrm>
            <a:prstGeom prst="rect">
              <a:avLst/>
            </a:prstGeom>
          </p:spPr>
          <p:txBody>
            <a:bodyPr lIns="0" tIns="0" rIns="0" bIns="0" rtlCol="0" anchor="t">
              <a:spAutoFit/>
            </a:bodyPr>
            <a:lstStyle/>
            <a:p>
              <a:pPr algn="ctr">
                <a:lnSpc>
                  <a:spcPts val="2870"/>
                </a:lnSpc>
                <a:spcBef>
                  <a:spcPct val="0"/>
                </a:spcBef>
              </a:pP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2. 设计方法论</a:t>
              </a:r>
              <a:endPar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grpSp>
      <p:sp>
        <p:nvSpPr>
          <p:cNvPr id="14" name="TextBox 14"/>
          <p:cNvSpPr txBox="1"/>
          <p:nvPr/>
        </p:nvSpPr>
        <p:spPr>
          <a:xfrm>
            <a:off x="1888509" y="4162505"/>
            <a:ext cx="16399491" cy="2966084"/>
          </a:xfrm>
          <a:prstGeom prst="rect">
            <a:avLst/>
          </a:prstGeom>
        </p:spPr>
        <p:txBody>
          <a:bodyPr lIns="0" tIns="0" rIns="0" bIns="0" rtlCol="0" anchor="t">
            <a:spAutoFit/>
          </a:bodyPr>
          <a:lstStyle/>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a:t>
            </a: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采用双钻模型（Double Diamond Model）进行产品设计，包括发现阶段（用户访谈、竞品分析、需求定义）和定义阶段（产品定位、功能规划、交互设计）</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运用成瘾模型（Hooked Model）设计用户友好的交互界面，通过触发、行动、奖励、投入四个环节提升用户粘性</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基于游戏化设计理论，参考三轴模型确定产品定位：聚焦在认知-行为轴的"attention-attitude"阶段、参与阶段轴的"Entry Point of Engagement"阶段、参与广泛度的"Individual Engagement"阶段</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运用自决理论（Self-Determination Theory）设计内在激励机制，通过徽章、等级、成就等游戏化元素提升用户参与度</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参考心流理论（Flow Theory），通过合理设置目标难度（Goal setting )，平衡挑战与技能，提升用户体验</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p>
        </p:txBody>
      </p:sp>
      <p:grpSp>
        <p:nvGrpSpPr>
          <p:cNvPr id="15" name="Group 15"/>
          <p:cNvGrpSpPr/>
          <p:nvPr/>
        </p:nvGrpSpPr>
        <p:grpSpPr>
          <a:xfrm rot="0">
            <a:off x="1306180" y="7300039"/>
            <a:ext cx="2500614" cy="477278"/>
            <a:chOff x="0" y="0"/>
            <a:chExt cx="3334152" cy="636371"/>
          </a:xfrm>
        </p:grpSpPr>
        <p:grpSp>
          <p:nvGrpSpPr>
            <p:cNvPr id="16" name="Group 16"/>
            <p:cNvGrpSpPr/>
            <p:nvPr/>
          </p:nvGrpSpPr>
          <p:grpSpPr>
            <a:xfrm rot="0">
              <a:off x="0" y="0"/>
              <a:ext cx="668051" cy="636371"/>
              <a:chOff x="0" y="0"/>
              <a:chExt cx="853263" cy="812800"/>
            </a:xfrm>
          </p:grpSpPr>
          <p:sp>
            <p:nvSpPr>
              <p:cNvPr id="17" name="Freeform 17"/>
              <p:cNvSpPr/>
              <p:nvPr/>
            </p:nvSpPr>
            <p:spPr>
              <a:xfrm>
                <a:off x="0" y="0"/>
                <a:ext cx="853263" cy="812800"/>
              </a:xfrm>
              <a:custGeom>
                <a:avLst/>
                <a:gdLst/>
                <a:ahLst/>
                <a:cxnLst/>
                <a:rect l="l" t="t" r="r" b="b"/>
                <a:pathLst>
                  <a:path w="853263" h="812800">
                    <a:moveTo>
                      <a:pt x="540263" y="0"/>
                    </a:moveTo>
                    <a:lnTo>
                      <a:pt x="313000" y="0"/>
                    </a:lnTo>
                    <a:cubicBezTo>
                      <a:pt x="287399" y="0"/>
                      <a:pt x="266645" y="20754"/>
                      <a:pt x="266645" y="46355"/>
                    </a:cubicBezTo>
                    <a:lnTo>
                      <a:pt x="266645" y="207645"/>
                    </a:lnTo>
                    <a:cubicBezTo>
                      <a:pt x="266645" y="233246"/>
                      <a:pt x="245891" y="254000"/>
                      <a:pt x="220289" y="254000"/>
                    </a:cubicBezTo>
                    <a:lnTo>
                      <a:pt x="46355" y="254000"/>
                    </a:lnTo>
                    <a:cubicBezTo>
                      <a:pt x="20754" y="254000"/>
                      <a:pt x="0" y="274754"/>
                      <a:pt x="0" y="300355"/>
                    </a:cubicBezTo>
                    <a:lnTo>
                      <a:pt x="0" y="512445"/>
                    </a:lnTo>
                    <a:cubicBezTo>
                      <a:pt x="0" y="538046"/>
                      <a:pt x="20754" y="558800"/>
                      <a:pt x="46355" y="558800"/>
                    </a:cubicBezTo>
                    <a:lnTo>
                      <a:pt x="220289" y="558800"/>
                    </a:lnTo>
                    <a:cubicBezTo>
                      <a:pt x="232584" y="558800"/>
                      <a:pt x="244374" y="563684"/>
                      <a:pt x="253068" y="572377"/>
                    </a:cubicBezTo>
                    <a:cubicBezTo>
                      <a:pt x="261761" y="581070"/>
                      <a:pt x="266645" y="592861"/>
                      <a:pt x="266645" y="605155"/>
                    </a:cubicBezTo>
                    <a:lnTo>
                      <a:pt x="266645" y="766445"/>
                    </a:lnTo>
                    <a:cubicBezTo>
                      <a:pt x="266645" y="792046"/>
                      <a:pt x="287399" y="812800"/>
                      <a:pt x="313000" y="812800"/>
                    </a:cubicBezTo>
                    <a:lnTo>
                      <a:pt x="540263" y="812800"/>
                    </a:lnTo>
                    <a:cubicBezTo>
                      <a:pt x="565864" y="812800"/>
                      <a:pt x="586618" y="792046"/>
                      <a:pt x="586618" y="766445"/>
                    </a:cubicBezTo>
                    <a:lnTo>
                      <a:pt x="586618" y="605155"/>
                    </a:lnTo>
                    <a:cubicBezTo>
                      <a:pt x="586618" y="579554"/>
                      <a:pt x="607372" y="558800"/>
                      <a:pt x="632974" y="558800"/>
                    </a:cubicBezTo>
                    <a:lnTo>
                      <a:pt x="806908" y="558800"/>
                    </a:lnTo>
                    <a:cubicBezTo>
                      <a:pt x="832509" y="558800"/>
                      <a:pt x="853263" y="538046"/>
                      <a:pt x="853263" y="512445"/>
                    </a:cubicBezTo>
                    <a:lnTo>
                      <a:pt x="853263" y="300355"/>
                    </a:lnTo>
                    <a:cubicBezTo>
                      <a:pt x="853263" y="274754"/>
                      <a:pt x="832509" y="254000"/>
                      <a:pt x="806908" y="254000"/>
                    </a:cubicBezTo>
                    <a:lnTo>
                      <a:pt x="632974" y="254000"/>
                    </a:lnTo>
                    <a:cubicBezTo>
                      <a:pt x="620679" y="254000"/>
                      <a:pt x="608889" y="249116"/>
                      <a:pt x="600195" y="240423"/>
                    </a:cubicBezTo>
                    <a:cubicBezTo>
                      <a:pt x="591502" y="231730"/>
                      <a:pt x="586618" y="219939"/>
                      <a:pt x="586618" y="207645"/>
                    </a:cubicBezTo>
                    <a:lnTo>
                      <a:pt x="586618" y="46355"/>
                    </a:lnTo>
                    <a:cubicBezTo>
                      <a:pt x="586618" y="20754"/>
                      <a:pt x="565864" y="0"/>
                      <a:pt x="540263" y="0"/>
                    </a:cubicBezTo>
                    <a:close/>
                  </a:path>
                </a:pathLst>
              </a:custGeom>
              <a:solidFill>
                <a:srgbClr val="FFDE59"/>
              </a:solidFill>
            </p:spPr>
          </p:sp>
          <p:sp>
            <p:nvSpPr>
              <p:cNvPr id="18" name="TextBox 18"/>
              <p:cNvSpPr txBox="1"/>
              <p:nvPr/>
            </p:nvSpPr>
            <p:spPr>
              <a:xfrm>
                <a:off x="199984" y="142875"/>
                <a:ext cx="453296" cy="479425"/>
              </a:xfrm>
              <a:prstGeom prst="rect">
                <a:avLst/>
              </a:prstGeom>
            </p:spPr>
            <p:txBody>
              <a:bodyPr lIns="50800" tIns="50800" rIns="50800" bIns="50800" rtlCol="0" anchor="ctr"/>
              <a:lstStyle/>
              <a:p>
                <a:pPr algn="ctr">
                  <a:lnSpc>
                    <a:spcPts val="2940"/>
                  </a:lnSpc>
                </a:pPr>
              </a:p>
            </p:txBody>
          </p:sp>
        </p:grpSp>
        <p:sp>
          <p:nvSpPr>
            <p:cNvPr id="19" name="TextBox 19"/>
            <p:cNvSpPr txBox="1"/>
            <p:nvPr/>
          </p:nvSpPr>
          <p:spPr>
            <a:xfrm>
              <a:off x="526525" y="72919"/>
              <a:ext cx="2807628" cy="452433"/>
            </a:xfrm>
            <a:prstGeom prst="rect">
              <a:avLst/>
            </a:prstGeom>
          </p:spPr>
          <p:txBody>
            <a:bodyPr lIns="0" tIns="0" rIns="0" bIns="0" rtlCol="0" anchor="t">
              <a:spAutoFit/>
            </a:bodyPr>
            <a:lstStyle/>
            <a:p>
              <a:pPr algn="ctr">
                <a:lnSpc>
                  <a:spcPts val="2870"/>
                </a:lnSpc>
                <a:spcBef>
                  <a:spcPct val="0"/>
                </a:spcBef>
              </a:pP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3. 技术实现方法</a:t>
              </a:r>
              <a:endPar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grpSp>
      <p:sp>
        <p:nvSpPr>
          <p:cNvPr id="20" name="TextBox 20"/>
          <p:cNvSpPr txBox="1"/>
          <p:nvPr/>
        </p:nvSpPr>
        <p:spPr>
          <a:xfrm>
            <a:off x="2086147" y="7729693"/>
            <a:ext cx="11209139" cy="2594609"/>
          </a:xfrm>
          <a:prstGeom prst="rect">
            <a:avLst/>
          </a:prstGeom>
        </p:spPr>
        <p:txBody>
          <a:bodyPr lIns="0" tIns="0" rIns="0" bIns="0" rtlCol="0" anchor="t">
            <a:spAutoFit/>
          </a:bodyPr>
          <a:lstStyle/>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采用MVP（最小可行产品）策略和敏捷开发方法论</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前端：基于Flutter开发跨平台移动应用</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后端：基于Python+FastAPI构建后端服务架构</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数据库：采用SQLite数据库（个人开发者友好型）</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数据源：集成多个金融数据API（新浪财经、腾讯财经等），实现实时价格获取和收益率计算</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部署：结合云ECS进行云服务部署</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237006" y="1353566"/>
            <a:ext cx="2382032" cy="477278"/>
            <a:chOff x="0" y="0"/>
            <a:chExt cx="3176042" cy="636371"/>
          </a:xfrm>
        </p:grpSpPr>
        <p:grpSp>
          <p:nvGrpSpPr>
            <p:cNvPr id="3" name="Group 3"/>
            <p:cNvGrpSpPr/>
            <p:nvPr/>
          </p:nvGrpSpPr>
          <p:grpSpPr>
            <a:xfrm rot="0">
              <a:off x="0" y="0"/>
              <a:ext cx="636371" cy="636371"/>
              <a:chOff x="0" y="0"/>
              <a:chExt cx="812800" cy="812800"/>
            </a:xfrm>
          </p:grpSpPr>
          <p:sp>
            <p:nvSpPr>
              <p:cNvPr id="4" name="Freeform 4"/>
              <p:cNvSpPr/>
              <p:nvPr/>
            </p:nvSpPr>
            <p:spPr>
              <a:xfrm>
                <a:off x="0" y="0"/>
                <a:ext cx="812800" cy="812800"/>
              </a:xfrm>
              <a:custGeom>
                <a:avLst/>
                <a:gdLst/>
                <a:ahLst/>
                <a:cxnLst/>
                <a:rect l="l" t="t" r="r" b="b"/>
                <a:pathLst>
                  <a:path w="812800" h="812800">
                    <a:moveTo>
                      <a:pt x="510137" y="0"/>
                    </a:moveTo>
                    <a:lnTo>
                      <a:pt x="302663" y="0"/>
                    </a:lnTo>
                    <a:cubicBezTo>
                      <a:pt x="275787" y="0"/>
                      <a:pt x="254000" y="21787"/>
                      <a:pt x="254000" y="48663"/>
                    </a:cubicBezTo>
                    <a:lnTo>
                      <a:pt x="254000" y="205337"/>
                    </a:lnTo>
                    <a:cubicBezTo>
                      <a:pt x="254000" y="232213"/>
                      <a:pt x="232213" y="254000"/>
                      <a:pt x="205337" y="254000"/>
                    </a:cubicBezTo>
                    <a:lnTo>
                      <a:pt x="48663" y="254000"/>
                    </a:lnTo>
                    <a:cubicBezTo>
                      <a:pt x="21787" y="254000"/>
                      <a:pt x="0" y="275787"/>
                      <a:pt x="0" y="302663"/>
                    </a:cubicBezTo>
                    <a:lnTo>
                      <a:pt x="0" y="510137"/>
                    </a:lnTo>
                    <a:cubicBezTo>
                      <a:pt x="0" y="537013"/>
                      <a:pt x="21787" y="558800"/>
                      <a:pt x="48663" y="558800"/>
                    </a:cubicBezTo>
                    <a:lnTo>
                      <a:pt x="205337" y="558800"/>
                    </a:lnTo>
                    <a:cubicBezTo>
                      <a:pt x="232213" y="558800"/>
                      <a:pt x="254000" y="580587"/>
                      <a:pt x="254000" y="607463"/>
                    </a:cubicBezTo>
                    <a:lnTo>
                      <a:pt x="254000" y="764137"/>
                    </a:lnTo>
                    <a:cubicBezTo>
                      <a:pt x="254000" y="791013"/>
                      <a:pt x="275787" y="812800"/>
                      <a:pt x="302663" y="812800"/>
                    </a:cubicBezTo>
                    <a:lnTo>
                      <a:pt x="510137" y="812800"/>
                    </a:lnTo>
                    <a:cubicBezTo>
                      <a:pt x="537013" y="812800"/>
                      <a:pt x="558800" y="791013"/>
                      <a:pt x="558800" y="764137"/>
                    </a:cubicBezTo>
                    <a:lnTo>
                      <a:pt x="558800" y="607463"/>
                    </a:lnTo>
                    <a:cubicBezTo>
                      <a:pt x="558800" y="580587"/>
                      <a:pt x="580587" y="558800"/>
                      <a:pt x="607463" y="558800"/>
                    </a:cubicBezTo>
                    <a:lnTo>
                      <a:pt x="764137" y="558800"/>
                    </a:lnTo>
                    <a:cubicBezTo>
                      <a:pt x="791013" y="558800"/>
                      <a:pt x="812800" y="537013"/>
                      <a:pt x="812800" y="510137"/>
                    </a:cubicBezTo>
                    <a:lnTo>
                      <a:pt x="812800" y="302663"/>
                    </a:lnTo>
                    <a:cubicBezTo>
                      <a:pt x="812800" y="275787"/>
                      <a:pt x="791013" y="254000"/>
                      <a:pt x="764137" y="254000"/>
                    </a:cubicBezTo>
                    <a:lnTo>
                      <a:pt x="607463" y="254000"/>
                    </a:lnTo>
                    <a:cubicBezTo>
                      <a:pt x="580587" y="254000"/>
                      <a:pt x="558800" y="232213"/>
                      <a:pt x="558800" y="205337"/>
                    </a:cubicBezTo>
                    <a:lnTo>
                      <a:pt x="558800" y="48663"/>
                    </a:lnTo>
                    <a:cubicBezTo>
                      <a:pt x="558800" y="21787"/>
                      <a:pt x="537013" y="0"/>
                      <a:pt x="510137" y="0"/>
                    </a:cubicBezTo>
                    <a:close/>
                  </a:path>
                </a:pathLst>
              </a:custGeom>
              <a:solidFill>
                <a:srgbClr val="FFDE59"/>
              </a:solidFill>
            </p:spPr>
          </p:sp>
          <p:sp>
            <p:nvSpPr>
              <p:cNvPr id="5" name="TextBox 5"/>
              <p:cNvSpPr txBox="1"/>
              <p:nvPr/>
            </p:nvSpPr>
            <p:spPr>
              <a:xfrm>
                <a:off x="190500" y="142875"/>
                <a:ext cx="431800" cy="479425"/>
              </a:xfrm>
              <a:prstGeom prst="rect">
                <a:avLst/>
              </a:prstGeom>
            </p:spPr>
            <p:txBody>
              <a:bodyPr lIns="50800" tIns="50800" rIns="50800" bIns="50800" rtlCol="0" anchor="ctr"/>
              <a:lstStyle/>
              <a:p>
                <a:pPr algn="ctr">
                  <a:lnSpc>
                    <a:spcPts val="2940"/>
                  </a:lnSpc>
                </a:pPr>
              </a:p>
            </p:txBody>
          </p:sp>
        </p:grpSp>
        <p:sp>
          <p:nvSpPr>
            <p:cNvPr id="6" name="TextBox 6"/>
            <p:cNvSpPr txBox="1"/>
            <p:nvPr/>
          </p:nvSpPr>
          <p:spPr>
            <a:xfrm>
              <a:off x="501556" y="72919"/>
              <a:ext cx="2674486" cy="452433"/>
            </a:xfrm>
            <a:prstGeom prst="rect">
              <a:avLst/>
            </a:prstGeom>
          </p:spPr>
          <p:txBody>
            <a:bodyPr lIns="0" tIns="0" rIns="0" bIns="0" rtlCol="0" anchor="t">
              <a:spAutoFit/>
            </a:bodyPr>
            <a:lstStyle/>
            <a:p>
              <a:pPr algn="ctr">
                <a:lnSpc>
                  <a:spcPts val="2870"/>
                </a:lnSpc>
                <a:spcBef>
                  <a:spcPct val="0"/>
                </a:spcBef>
              </a:pP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研究思路</a:t>
              </a:r>
              <a:endPar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grpSp>
      <p:sp>
        <p:nvSpPr>
          <p:cNvPr id="7" name="Freeform 7"/>
          <p:cNvSpPr/>
          <p:nvPr/>
        </p:nvSpPr>
        <p:spPr>
          <a:xfrm>
            <a:off x="509588" y="4353114"/>
            <a:ext cx="7987144" cy="5490678"/>
          </a:xfrm>
          <a:custGeom>
            <a:avLst/>
            <a:gdLst/>
            <a:ahLst/>
            <a:cxnLst/>
            <a:rect l="l" t="t" r="r" b="b"/>
            <a:pathLst>
              <a:path w="7987144" h="5490678">
                <a:moveTo>
                  <a:pt x="0" y="0"/>
                </a:moveTo>
                <a:lnTo>
                  <a:pt x="7987143" y="0"/>
                </a:lnTo>
                <a:lnTo>
                  <a:pt x="7987143" y="5490678"/>
                </a:lnTo>
                <a:lnTo>
                  <a:pt x="0" y="5490678"/>
                </a:lnTo>
                <a:lnTo>
                  <a:pt x="0" y="0"/>
                </a:lnTo>
                <a:close/>
              </a:path>
            </a:pathLst>
          </a:custGeom>
          <a:blipFill>
            <a:blip r:embed="rId1"/>
            <a:stretch>
              <a:fillRect l="-618" r="-8041" b="-6299"/>
            </a:stretch>
          </a:blipFill>
        </p:spPr>
      </p:sp>
      <p:sp>
        <p:nvSpPr>
          <p:cNvPr id="8" name="Freeform 8"/>
          <p:cNvSpPr/>
          <p:nvPr/>
        </p:nvSpPr>
        <p:spPr>
          <a:xfrm>
            <a:off x="8732985" y="4353114"/>
            <a:ext cx="9066406" cy="5490678"/>
          </a:xfrm>
          <a:custGeom>
            <a:avLst/>
            <a:gdLst/>
            <a:ahLst/>
            <a:cxnLst/>
            <a:rect l="l" t="t" r="r" b="b"/>
            <a:pathLst>
              <a:path w="9066406" h="5490678">
                <a:moveTo>
                  <a:pt x="0" y="0"/>
                </a:moveTo>
                <a:lnTo>
                  <a:pt x="9066406" y="0"/>
                </a:lnTo>
                <a:lnTo>
                  <a:pt x="9066406" y="5490678"/>
                </a:lnTo>
                <a:lnTo>
                  <a:pt x="0" y="5490678"/>
                </a:lnTo>
                <a:lnTo>
                  <a:pt x="0" y="0"/>
                </a:lnTo>
                <a:close/>
              </a:path>
            </a:pathLst>
          </a:custGeom>
          <a:blipFill>
            <a:blip r:embed="rId2"/>
            <a:stretch>
              <a:fillRect r="-4546" b="-2809"/>
            </a:stretch>
          </a:blipFill>
        </p:spPr>
      </p:sp>
      <p:sp>
        <p:nvSpPr>
          <p:cNvPr id="9" name="TextBox 9"/>
          <p:cNvSpPr txBox="1"/>
          <p:nvPr/>
        </p:nvSpPr>
        <p:spPr>
          <a:xfrm>
            <a:off x="509588" y="371370"/>
            <a:ext cx="3698018" cy="405764"/>
          </a:xfrm>
          <a:prstGeom prst="rect">
            <a:avLst/>
          </a:prstGeom>
        </p:spPr>
        <p:txBody>
          <a:bodyPr lIns="0" tIns="0" rIns="0" bIns="0" rtlCol="0" anchor="t">
            <a:spAutoFit/>
          </a:bodyPr>
          <a:lstStyle/>
          <a:p>
            <a:pPr algn="ctr">
              <a:lnSpc>
                <a:spcPts val="3360"/>
              </a:lnSpc>
              <a:spcBef>
                <a:spcPct val="0"/>
              </a:spcBef>
            </a:pPr>
            <a:r>
              <a:rPr lang="en-US" sz="24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研究方法、思路与预期成果</a:t>
            </a:r>
            <a:endParaRPr lang="en-US" sz="24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endParaRPr>
          </a:p>
        </p:txBody>
      </p:sp>
      <p:sp>
        <p:nvSpPr>
          <p:cNvPr id="10" name="TextBox 10"/>
          <p:cNvSpPr txBox="1"/>
          <p:nvPr/>
        </p:nvSpPr>
        <p:spPr>
          <a:xfrm>
            <a:off x="2085975" y="1958340"/>
            <a:ext cx="14540230" cy="2261870"/>
          </a:xfrm>
          <a:prstGeom prst="rect">
            <a:avLst/>
          </a:prstGeom>
        </p:spPr>
        <p:txBody>
          <a:bodyPr wrap="square" lIns="0" tIns="0" rIns="0" bIns="0" rtlCol="0" anchor="t">
            <a:spAutoFit/>
          </a:bodyPr>
          <a:lstStyle/>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1.</a:t>
            </a: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需求分析阶段：通过用户访谈深入了解目标用户的痛点、需求和期望，验证产品概念的可行性</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2. 产品设计阶段：基于双钻模型完成产品设计，包括交互设计、视觉设计、原型制作</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3. 技术开发阶段：采用MVP策略，分阶段实现核心功能，包括投资组合管理、实时数据获取、简单长期投资策略的回测等</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4. 用户体验优化阶段：运用成瘾模型和游戏化设计优化用户体验，提升用户参与度和留存率</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5. 测试与迭代阶段：进行功能测试、性能测试、用户测试，根据反馈持续优化产品</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p>
        </p:txBody>
      </p:sp>
      <p:sp>
        <p:nvSpPr>
          <p:cNvPr id="11" name="TextBox 11"/>
          <p:cNvSpPr txBox="1"/>
          <p:nvPr/>
        </p:nvSpPr>
        <p:spPr>
          <a:xfrm>
            <a:off x="3236385" y="9926097"/>
            <a:ext cx="1676400" cy="198119"/>
          </a:xfrm>
          <a:prstGeom prst="rect">
            <a:avLst/>
          </a:prstGeom>
        </p:spPr>
        <p:txBody>
          <a:bodyPr lIns="0" tIns="0" rIns="0" bIns="0" rtlCol="0" anchor="t">
            <a:spAutoFit/>
          </a:bodyPr>
          <a:lstStyle/>
          <a:p>
            <a:pPr algn="ctr">
              <a:lnSpc>
                <a:spcPts val="1680"/>
              </a:lnSpc>
              <a:spcBef>
                <a:spcPct val="0"/>
              </a:spcBef>
            </a:pPr>
            <a:r>
              <a:rPr lang="en-US" sz="12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深度用户访谈后信息整理</a:t>
            </a:r>
            <a:endParaRPr lang="en-US" sz="12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2" name="TextBox 12"/>
          <p:cNvSpPr txBox="1"/>
          <p:nvPr/>
        </p:nvSpPr>
        <p:spPr>
          <a:xfrm>
            <a:off x="12656588" y="9926097"/>
            <a:ext cx="1219200" cy="198119"/>
          </a:xfrm>
          <a:prstGeom prst="rect">
            <a:avLst/>
          </a:prstGeom>
        </p:spPr>
        <p:txBody>
          <a:bodyPr lIns="0" tIns="0" rIns="0" bIns="0" rtlCol="0" anchor="t">
            <a:spAutoFit/>
          </a:bodyPr>
          <a:lstStyle/>
          <a:p>
            <a:pPr algn="ctr">
              <a:lnSpc>
                <a:spcPts val="1680"/>
              </a:lnSpc>
              <a:spcBef>
                <a:spcPct val="0"/>
              </a:spcBef>
            </a:pPr>
            <a:r>
              <a:rPr lang="en-US" sz="12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节选访谈大纲展示</a:t>
            </a:r>
            <a:endParaRPr lang="en-US" sz="12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9588" y="371370"/>
            <a:ext cx="3698018" cy="405764"/>
          </a:xfrm>
          <a:prstGeom prst="rect">
            <a:avLst/>
          </a:prstGeom>
        </p:spPr>
        <p:txBody>
          <a:bodyPr lIns="0" tIns="0" rIns="0" bIns="0" rtlCol="0" anchor="t">
            <a:spAutoFit/>
          </a:bodyPr>
          <a:lstStyle/>
          <a:p>
            <a:pPr algn="ctr">
              <a:lnSpc>
                <a:spcPts val="3360"/>
              </a:lnSpc>
              <a:spcBef>
                <a:spcPct val="0"/>
              </a:spcBef>
            </a:pPr>
            <a:r>
              <a:rPr lang="en-US" sz="24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研究方法、思路与预期成果</a:t>
            </a:r>
            <a:endParaRPr lang="en-US" sz="24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endParaRPr>
          </a:p>
        </p:txBody>
      </p:sp>
      <p:grpSp>
        <p:nvGrpSpPr>
          <p:cNvPr id="3" name="Group 3"/>
          <p:cNvGrpSpPr/>
          <p:nvPr/>
        </p:nvGrpSpPr>
        <p:grpSpPr>
          <a:xfrm rot="0">
            <a:off x="1237006" y="1353566"/>
            <a:ext cx="2382032" cy="477278"/>
            <a:chOff x="0" y="0"/>
            <a:chExt cx="3176042" cy="636371"/>
          </a:xfrm>
        </p:grpSpPr>
        <p:grpSp>
          <p:nvGrpSpPr>
            <p:cNvPr id="4" name="Group 4"/>
            <p:cNvGrpSpPr/>
            <p:nvPr/>
          </p:nvGrpSpPr>
          <p:grpSpPr>
            <a:xfrm rot="0">
              <a:off x="0" y="0"/>
              <a:ext cx="636371" cy="636371"/>
              <a:chOff x="0" y="0"/>
              <a:chExt cx="812800" cy="812800"/>
            </a:xfrm>
          </p:grpSpPr>
          <p:sp>
            <p:nvSpPr>
              <p:cNvPr id="5" name="Freeform 5"/>
              <p:cNvSpPr/>
              <p:nvPr/>
            </p:nvSpPr>
            <p:spPr>
              <a:xfrm>
                <a:off x="0" y="0"/>
                <a:ext cx="812800" cy="812800"/>
              </a:xfrm>
              <a:custGeom>
                <a:avLst/>
                <a:gdLst/>
                <a:ahLst/>
                <a:cxnLst/>
                <a:rect l="l" t="t" r="r" b="b"/>
                <a:pathLst>
                  <a:path w="812800" h="812800">
                    <a:moveTo>
                      <a:pt x="510137" y="0"/>
                    </a:moveTo>
                    <a:lnTo>
                      <a:pt x="302663" y="0"/>
                    </a:lnTo>
                    <a:cubicBezTo>
                      <a:pt x="275787" y="0"/>
                      <a:pt x="254000" y="21787"/>
                      <a:pt x="254000" y="48663"/>
                    </a:cubicBezTo>
                    <a:lnTo>
                      <a:pt x="254000" y="205337"/>
                    </a:lnTo>
                    <a:cubicBezTo>
                      <a:pt x="254000" y="232213"/>
                      <a:pt x="232213" y="254000"/>
                      <a:pt x="205337" y="254000"/>
                    </a:cubicBezTo>
                    <a:lnTo>
                      <a:pt x="48663" y="254000"/>
                    </a:lnTo>
                    <a:cubicBezTo>
                      <a:pt x="21787" y="254000"/>
                      <a:pt x="0" y="275787"/>
                      <a:pt x="0" y="302663"/>
                    </a:cubicBezTo>
                    <a:lnTo>
                      <a:pt x="0" y="510137"/>
                    </a:lnTo>
                    <a:cubicBezTo>
                      <a:pt x="0" y="537013"/>
                      <a:pt x="21787" y="558800"/>
                      <a:pt x="48663" y="558800"/>
                    </a:cubicBezTo>
                    <a:lnTo>
                      <a:pt x="205337" y="558800"/>
                    </a:lnTo>
                    <a:cubicBezTo>
                      <a:pt x="232213" y="558800"/>
                      <a:pt x="254000" y="580587"/>
                      <a:pt x="254000" y="607463"/>
                    </a:cubicBezTo>
                    <a:lnTo>
                      <a:pt x="254000" y="764137"/>
                    </a:lnTo>
                    <a:cubicBezTo>
                      <a:pt x="254000" y="791013"/>
                      <a:pt x="275787" y="812800"/>
                      <a:pt x="302663" y="812800"/>
                    </a:cubicBezTo>
                    <a:lnTo>
                      <a:pt x="510137" y="812800"/>
                    </a:lnTo>
                    <a:cubicBezTo>
                      <a:pt x="537013" y="812800"/>
                      <a:pt x="558800" y="791013"/>
                      <a:pt x="558800" y="764137"/>
                    </a:cubicBezTo>
                    <a:lnTo>
                      <a:pt x="558800" y="607463"/>
                    </a:lnTo>
                    <a:cubicBezTo>
                      <a:pt x="558800" y="580587"/>
                      <a:pt x="580587" y="558800"/>
                      <a:pt x="607463" y="558800"/>
                    </a:cubicBezTo>
                    <a:lnTo>
                      <a:pt x="764137" y="558800"/>
                    </a:lnTo>
                    <a:cubicBezTo>
                      <a:pt x="791013" y="558800"/>
                      <a:pt x="812800" y="537013"/>
                      <a:pt x="812800" y="510137"/>
                    </a:cubicBezTo>
                    <a:lnTo>
                      <a:pt x="812800" y="302663"/>
                    </a:lnTo>
                    <a:cubicBezTo>
                      <a:pt x="812800" y="275787"/>
                      <a:pt x="791013" y="254000"/>
                      <a:pt x="764137" y="254000"/>
                    </a:cubicBezTo>
                    <a:lnTo>
                      <a:pt x="607463" y="254000"/>
                    </a:lnTo>
                    <a:cubicBezTo>
                      <a:pt x="580587" y="254000"/>
                      <a:pt x="558800" y="232213"/>
                      <a:pt x="558800" y="205337"/>
                    </a:cubicBezTo>
                    <a:lnTo>
                      <a:pt x="558800" y="48663"/>
                    </a:lnTo>
                    <a:cubicBezTo>
                      <a:pt x="558800" y="21787"/>
                      <a:pt x="537013" y="0"/>
                      <a:pt x="510137" y="0"/>
                    </a:cubicBezTo>
                    <a:close/>
                  </a:path>
                </a:pathLst>
              </a:custGeom>
              <a:solidFill>
                <a:srgbClr val="FFDE59"/>
              </a:solidFill>
            </p:spPr>
          </p:sp>
          <p:sp>
            <p:nvSpPr>
              <p:cNvPr id="6" name="TextBox 6"/>
              <p:cNvSpPr txBox="1"/>
              <p:nvPr/>
            </p:nvSpPr>
            <p:spPr>
              <a:xfrm>
                <a:off x="190500" y="142875"/>
                <a:ext cx="431800" cy="479425"/>
              </a:xfrm>
              <a:prstGeom prst="rect">
                <a:avLst/>
              </a:prstGeom>
            </p:spPr>
            <p:txBody>
              <a:bodyPr lIns="50800" tIns="50800" rIns="50800" bIns="50800" rtlCol="0" anchor="ctr"/>
              <a:lstStyle/>
              <a:p>
                <a:pPr algn="ctr">
                  <a:lnSpc>
                    <a:spcPts val="2940"/>
                  </a:lnSpc>
                </a:pPr>
              </a:p>
            </p:txBody>
          </p:sp>
        </p:grpSp>
        <p:sp>
          <p:nvSpPr>
            <p:cNvPr id="7" name="TextBox 7"/>
            <p:cNvSpPr txBox="1"/>
            <p:nvPr/>
          </p:nvSpPr>
          <p:spPr>
            <a:xfrm>
              <a:off x="501556" y="72919"/>
              <a:ext cx="2674486" cy="452433"/>
            </a:xfrm>
            <a:prstGeom prst="rect">
              <a:avLst/>
            </a:prstGeom>
          </p:spPr>
          <p:txBody>
            <a:bodyPr lIns="0" tIns="0" rIns="0" bIns="0" rtlCol="0" anchor="t">
              <a:spAutoFit/>
            </a:bodyPr>
            <a:lstStyle/>
            <a:p>
              <a:pPr algn="ctr">
                <a:lnSpc>
                  <a:spcPts val="2870"/>
                </a:lnSpc>
                <a:spcBef>
                  <a:spcPct val="0"/>
                </a:spcBef>
              </a:pP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预期成果</a:t>
              </a:r>
              <a:endPar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grpSp>
      <p:sp>
        <p:nvSpPr>
          <p:cNvPr id="8" name="TextBox 8"/>
          <p:cNvSpPr txBox="1"/>
          <p:nvPr/>
        </p:nvSpPr>
        <p:spPr>
          <a:xfrm>
            <a:off x="2086147" y="1958530"/>
            <a:ext cx="13852778" cy="7795259"/>
          </a:xfrm>
          <a:prstGeom prst="rect">
            <a:avLst/>
          </a:prstGeom>
        </p:spPr>
        <p:txBody>
          <a:bodyPr lIns="0" tIns="0" rIns="0" bIns="0" rtlCol="0" anchor="t">
            <a:spAutoFit/>
          </a:bodyPr>
          <a:lstStyle/>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1.</a:t>
            </a: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软件产品</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一款功能完善的跨平台移动应用FirstSpot，首先支持Android平台</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具备投资组合管理、实时数据获取、简单长期投资策略的回测（后期）等核心功能</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用户友好的交互界面，支持数据可视化和收益提醒</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2. 设计文档</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详细的产品设计文档，包括用户需求分析、功能规划、交互设计等</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用户调研报告，包括访谈记录、用户画像、痛点分析等</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3. 技术文档</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完整的技术文档，涵盖系统架构、数据库设计、API接口等</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部署文档，包括云服务配置和运维指南</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4. 测试报告</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功能测试报告，确保所有核心功能正常运行</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性能测试报告，验证系统性能指标达标</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用户测试报告，验证用户体验和产品可用性</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5. 毕业设计论文</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 详细阐述项目背景、技术方案、设计过程、实现过程和结果分析</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237006" y="1353566"/>
            <a:ext cx="2382032" cy="477278"/>
            <a:chOff x="0" y="0"/>
            <a:chExt cx="3176042" cy="636371"/>
          </a:xfrm>
        </p:grpSpPr>
        <p:grpSp>
          <p:nvGrpSpPr>
            <p:cNvPr id="3" name="Group 3"/>
            <p:cNvGrpSpPr/>
            <p:nvPr/>
          </p:nvGrpSpPr>
          <p:grpSpPr>
            <a:xfrm rot="0">
              <a:off x="0" y="0"/>
              <a:ext cx="636371" cy="636371"/>
              <a:chOff x="0" y="0"/>
              <a:chExt cx="812800" cy="812800"/>
            </a:xfrm>
          </p:grpSpPr>
          <p:sp>
            <p:nvSpPr>
              <p:cNvPr id="4" name="Freeform 4"/>
              <p:cNvSpPr/>
              <p:nvPr/>
            </p:nvSpPr>
            <p:spPr>
              <a:xfrm>
                <a:off x="0" y="0"/>
                <a:ext cx="812800" cy="812800"/>
              </a:xfrm>
              <a:custGeom>
                <a:avLst/>
                <a:gdLst/>
                <a:ahLst/>
                <a:cxnLst/>
                <a:rect l="l" t="t" r="r" b="b"/>
                <a:pathLst>
                  <a:path w="812800" h="812800">
                    <a:moveTo>
                      <a:pt x="510137" y="0"/>
                    </a:moveTo>
                    <a:lnTo>
                      <a:pt x="302663" y="0"/>
                    </a:lnTo>
                    <a:cubicBezTo>
                      <a:pt x="275787" y="0"/>
                      <a:pt x="254000" y="21787"/>
                      <a:pt x="254000" y="48663"/>
                    </a:cubicBezTo>
                    <a:lnTo>
                      <a:pt x="254000" y="205337"/>
                    </a:lnTo>
                    <a:cubicBezTo>
                      <a:pt x="254000" y="232213"/>
                      <a:pt x="232213" y="254000"/>
                      <a:pt x="205337" y="254000"/>
                    </a:cubicBezTo>
                    <a:lnTo>
                      <a:pt x="48663" y="254000"/>
                    </a:lnTo>
                    <a:cubicBezTo>
                      <a:pt x="21787" y="254000"/>
                      <a:pt x="0" y="275787"/>
                      <a:pt x="0" y="302663"/>
                    </a:cubicBezTo>
                    <a:lnTo>
                      <a:pt x="0" y="510137"/>
                    </a:lnTo>
                    <a:cubicBezTo>
                      <a:pt x="0" y="537013"/>
                      <a:pt x="21787" y="558800"/>
                      <a:pt x="48663" y="558800"/>
                    </a:cubicBezTo>
                    <a:lnTo>
                      <a:pt x="205337" y="558800"/>
                    </a:lnTo>
                    <a:cubicBezTo>
                      <a:pt x="232213" y="558800"/>
                      <a:pt x="254000" y="580587"/>
                      <a:pt x="254000" y="607463"/>
                    </a:cubicBezTo>
                    <a:lnTo>
                      <a:pt x="254000" y="764137"/>
                    </a:lnTo>
                    <a:cubicBezTo>
                      <a:pt x="254000" y="791013"/>
                      <a:pt x="275787" y="812800"/>
                      <a:pt x="302663" y="812800"/>
                    </a:cubicBezTo>
                    <a:lnTo>
                      <a:pt x="510137" y="812800"/>
                    </a:lnTo>
                    <a:cubicBezTo>
                      <a:pt x="537013" y="812800"/>
                      <a:pt x="558800" y="791013"/>
                      <a:pt x="558800" y="764137"/>
                    </a:cubicBezTo>
                    <a:lnTo>
                      <a:pt x="558800" y="607463"/>
                    </a:lnTo>
                    <a:cubicBezTo>
                      <a:pt x="558800" y="580587"/>
                      <a:pt x="580587" y="558800"/>
                      <a:pt x="607463" y="558800"/>
                    </a:cubicBezTo>
                    <a:lnTo>
                      <a:pt x="764137" y="558800"/>
                    </a:lnTo>
                    <a:cubicBezTo>
                      <a:pt x="791013" y="558800"/>
                      <a:pt x="812800" y="537013"/>
                      <a:pt x="812800" y="510137"/>
                    </a:cubicBezTo>
                    <a:lnTo>
                      <a:pt x="812800" y="302663"/>
                    </a:lnTo>
                    <a:cubicBezTo>
                      <a:pt x="812800" y="275787"/>
                      <a:pt x="791013" y="254000"/>
                      <a:pt x="764137" y="254000"/>
                    </a:cubicBezTo>
                    <a:lnTo>
                      <a:pt x="607463" y="254000"/>
                    </a:lnTo>
                    <a:cubicBezTo>
                      <a:pt x="580587" y="254000"/>
                      <a:pt x="558800" y="232213"/>
                      <a:pt x="558800" y="205337"/>
                    </a:cubicBezTo>
                    <a:lnTo>
                      <a:pt x="558800" y="48663"/>
                    </a:lnTo>
                    <a:cubicBezTo>
                      <a:pt x="558800" y="21787"/>
                      <a:pt x="537013" y="0"/>
                      <a:pt x="510137" y="0"/>
                    </a:cubicBezTo>
                    <a:close/>
                  </a:path>
                </a:pathLst>
              </a:custGeom>
              <a:solidFill>
                <a:srgbClr val="FFDE59"/>
              </a:solidFill>
            </p:spPr>
          </p:sp>
          <p:sp>
            <p:nvSpPr>
              <p:cNvPr id="5" name="TextBox 5"/>
              <p:cNvSpPr txBox="1"/>
              <p:nvPr/>
            </p:nvSpPr>
            <p:spPr>
              <a:xfrm>
                <a:off x="190500" y="142875"/>
                <a:ext cx="431800" cy="479425"/>
              </a:xfrm>
              <a:prstGeom prst="rect">
                <a:avLst/>
              </a:prstGeom>
            </p:spPr>
            <p:txBody>
              <a:bodyPr lIns="50800" tIns="50800" rIns="50800" bIns="50800" rtlCol="0" anchor="ctr"/>
              <a:lstStyle/>
              <a:p>
                <a:pPr algn="ctr">
                  <a:lnSpc>
                    <a:spcPts val="2940"/>
                  </a:lnSpc>
                </a:pPr>
              </a:p>
            </p:txBody>
          </p:sp>
        </p:grpSp>
        <p:sp>
          <p:nvSpPr>
            <p:cNvPr id="6" name="TextBox 6"/>
            <p:cNvSpPr txBox="1"/>
            <p:nvPr/>
          </p:nvSpPr>
          <p:spPr>
            <a:xfrm>
              <a:off x="501556" y="72919"/>
              <a:ext cx="2674486" cy="452433"/>
            </a:xfrm>
            <a:prstGeom prst="rect">
              <a:avLst/>
            </a:prstGeom>
          </p:spPr>
          <p:txBody>
            <a:bodyPr lIns="0" tIns="0" rIns="0" bIns="0" rtlCol="0" anchor="t">
              <a:spAutoFit/>
            </a:bodyPr>
            <a:lstStyle/>
            <a:p>
              <a:pPr algn="ctr">
                <a:lnSpc>
                  <a:spcPts val="2870"/>
                </a:lnSpc>
                <a:spcBef>
                  <a:spcPct val="0"/>
                </a:spcBef>
              </a:pPr>
            </a:p>
          </p:txBody>
        </p:sp>
      </p:grpSp>
      <p:grpSp>
        <p:nvGrpSpPr>
          <p:cNvPr id="7" name="Group 7"/>
          <p:cNvGrpSpPr/>
          <p:nvPr/>
        </p:nvGrpSpPr>
        <p:grpSpPr>
          <a:xfrm rot="0">
            <a:off x="1237006" y="9048837"/>
            <a:ext cx="477278" cy="477278"/>
            <a:chOff x="0" y="0"/>
            <a:chExt cx="812800" cy="812800"/>
          </a:xfrm>
        </p:grpSpPr>
        <p:sp>
          <p:nvSpPr>
            <p:cNvPr id="8" name="Freeform 8"/>
            <p:cNvSpPr/>
            <p:nvPr/>
          </p:nvSpPr>
          <p:spPr>
            <a:xfrm>
              <a:off x="0" y="0"/>
              <a:ext cx="812800" cy="812800"/>
            </a:xfrm>
            <a:custGeom>
              <a:avLst/>
              <a:gdLst/>
              <a:ahLst/>
              <a:cxnLst/>
              <a:rect l="l" t="t" r="r" b="b"/>
              <a:pathLst>
                <a:path w="812800" h="812800">
                  <a:moveTo>
                    <a:pt x="510137" y="0"/>
                  </a:moveTo>
                  <a:lnTo>
                    <a:pt x="302663" y="0"/>
                  </a:lnTo>
                  <a:cubicBezTo>
                    <a:pt x="275787" y="0"/>
                    <a:pt x="254000" y="21787"/>
                    <a:pt x="254000" y="48663"/>
                  </a:cubicBezTo>
                  <a:lnTo>
                    <a:pt x="254000" y="205337"/>
                  </a:lnTo>
                  <a:cubicBezTo>
                    <a:pt x="254000" y="232213"/>
                    <a:pt x="232213" y="254000"/>
                    <a:pt x="205337" y="254000"/>
                  </a:cubicBezTo>
                  <a:lnTo>
                    <a:pt x="48663" y="254000"/>
                  </a:lnTo>
                  <a:cubicBezTo>
                    <a:pt x="21787" y="254000"/>
                    <a:pt x="0" y="275787"/>
                    <a:pt x="0" y="302663"/>
                  </a:cubicBezTo>
                  <a:lnTo>
                    <a:pt x="0" y="510137"/>
                  </a:lnTo>
                  <a:cubicBezTo>
                    <a:pt x="0" y="537013"/>
                    <a:pt x="21787" y="558800"/>
                    <a:pt x="48663" y="558800"/>
                  </a:cubicBezTo>
                  <a:lnTo>
                    <a:pt x="205337" y="558800"/>
                  </a:lnTo>
                  <a:cubicBezTo>
                    <a:pt x="232213" y="558800"/>
                    <a:pt x="254000" y="580587"/>
                    <a:pt x="254000" y="607463"/>
                  </a:cubicBezTo>
                  <a:lnTo>
                    <a:pt x="254000" y="764137"/>
                  </a:lnTo>
                  <a:cubicBezTo>
                    <a:pt x="254000" y="791013"/>
                    <a:pt x="275787" y="812800"/>
                    <a:pt x="302663" y="812800"/>
                  </a:cubicBezTo>
                  <a:lnTo>
                    <a:pt x="510137" y="812800"/>
                  </a:lnTo>
                  <a:cubicBezTo>
                    <a:pt x="537013" y="812800"/>
                    <a:pt x="558800" y="791013"/>
                    <a:pt x="558800" y="764137"/>
                  </a:cubicBezTo>
                  <a:lnTo>
                    <a:pt x="558800" y="607463"/>
                  </a:lnTo>
                  <a:cubicBezTo>
                    <a:pt x="558800" y="580587"/>
                    <a:pt x="580587" y="558800"/>
                    <a:pt x="607463" y="558800"/>
                  </a:cubicBezTo>
                  <a:lnTo>
                    <a:pt x="764137" y="558800"/>
                  </a:lnTo>
                  <a:cubicBezTo>
                    <a:pt x="791013" y="558800"/>
                    <a:pt x="812800" y="537013"/>
                    <a:pt x="812800" y="510137"/>
                  </a:cubicBezTo>
                  <a:lnTo>
                    <a:pt x="812800" y="302663"/>
                  </a:lnTo>
                  <a:cubicBezTo>
                    <a:pt x="812800" y="275787"/>
                    <a:pt x="791013" y="254000"/>
                    <a:pt x="764137" y="254000"/>
                  </a:cubicBezTo>
                  <a:lnTo>
                    <a:pt x="607463" y="254000"/>
                  </a:lnTo>
                  <a:cubicBezTo>
                    <a:pt x="580587" y="254000"/>
                    <a:pt x="558800" y="232213"/>
                    <a:pt x="558800" y="205337"/>
                  </a:cubicBezTo>
                  <a:lnTo>
                    <a:pt x="558800" y="48663"/>
                  </a:lnTo>
                  <a:cubicBezTo>
                    <a:pt x="558800" y="21787"/>
                    <a:pt x="537013" y="0"/>
                    <a:pt x="510137" y="0"/>
                  </a:cubicBezTo>
                  <a:close/>
                </a:path>
              </a:pathLst>
            </a:custGeom>
            <a:solidFill>
              <a:srgbClr val="FFDE59"/>
            </a:solidFill>
          </p:spPr>
        </p:sp>
        <p:sp>
          <p:nvSpPr>
            <p:cNvPr id="9" name="TextBox 9"/>
            <p:cNvSpPr txBox="1"/>
            <p:nvPr/>
          </p:nvSpPr>
          <p:spPr>
            <a:xfrm>
              <a:off x="190500" y="142875"/>
              <a:ext cx="431800" cy="479425"/>
            </a:xfrm>
            <a:prstGeom prst="rect">
              <a:avLst/>
            </a:prstGeom>
          </p:spPr>
          <p:txBody>
            <a:bodyPr lIns="50800" tIns="50800" rIns="50800" bIns="50800" rtlCol="0" anchor="ctr"/>
            <a:lstStyle/>
            <a:p>
              <a:pPr algn="ctr">
                <a:lnSpc>
                  <a:spcPts val="2940"/>
                </a:lnSpc>
              </a:pPr>
            </a:p>
          </p:txBody>
        </p:sp>
      </p:grpSp>
      <p:sp>
        <p:nvSpPr>
          <p:cNvPr id="10" name="TextBox 10"/>
          <p:cNvSpPr txBox="1"/>
          <p:nvPr/>
        </p:nvSpPr>
        <p:spPr>
          <a:xfrm>
            <a:off x="509588" y="371370"/>
            <a:ext cx="4399633" cy="405764"/>
          </a:xfrm>
          <a:prstGeom prst="rect">
            <a:avLst/>
          </a:prstGeom>
        </p:spPr>
        <p:txBody>
          <a:bodyPr lIns="0" tIns="0" rIns="0" bIns="0" rtlCol="0" anchor="t">
            <a:spAutoFit/>
          </a:bodyPr>
          <a:lstStyle/>
          <a:p>
            <a:pPr algn="ctr">
              <a:lnSpc>
                <a:spcPts val="3360"/>
              </a:lnSpc>
              <a:spcBef>
                <a:spcPct val="0"/>
              </a:spcBef>
            </a:pPr>
            <a:r>
              <a:rPr lang="en-US" sz="24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任务完成的阶段内容及时间安排</a:t>
            </a:r>
            <a:endParaRPr lang="en-US" sz="2400">
              <a:solidFill>
                <a:srgbClr val="000000"/>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endParaRPr>
          </a:p>
        </p:txBody>
      </p:sp>
      <p:sp>
        <p:nvSpPr>
          <p:cNvPr id="11" name="TextBox 11"/>
          <p:cNvSpPr txBox="1"/>
          <p:nvPr/>
        </p:nvSpPr>
        <p:spPr>
          <a:xfrm>
            <a:off x="1947801" y="1305941"/>
            <a:ext cx="13852778" cy="737234"/>
          </a:xfrm>
          <a:prstGeom prst="rect">
            <a:avLst/>
          </a:prstGeom>
        </p:spPr>
        <p:txBody>
          <a:bodyPr lIns="0" tIns="0" rIns="0" bIns="0" rtlCol="0" anchor="t">
            <a:spAutoFit/>
          </a:bodyPr>
          <a:lstStyle/>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项目总开发周期为7个月（2025年9月20日</a:t>
            </a: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-2026年4月25日），采用业余时间开发模式，每天投入开发时间2小时。通过利用AI Agent辅助开发，预计可缩减30%的工作量。</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2" name="TextBox 12"/>
          <p:cNvSpPr txBox="1"/>
          <p:nvPr/>
        </p:nvSpPr>
        <p:spPr>
          <a:xfrm>
            <a:off x="1237006" y="2878508"/>
            <a:ext cx="6780609" cy="2594609"/>
          </a:xfrm>
          <a:prstGeom prst="rect">
            <a:avLst/>
          </a:prstGeom>
        </p:spPr>
        <p:txBody>
          <a:bodyPr lIns="0" tIns="0" rIns="0" bIns="0" rtlCol="0" anchor="t">
            <a:spAutoFit/>
          </a:bodyPr>
          <a:lstStyle/>
          <a:p>
            <a:pPr algn="just">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第一阶段（2025年9月25日-2025年11月25日，2个月）</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just">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目标：</a:t>
            </a:r>
            <a:r>
              <a:rPr lang="en-US" sz="2100">
                <a:solidFill>
                  <a:srgbClr val="CB2419"/>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产品设计调研和基础架构搭建</a:t>
            </a:r>
            <a:endParaRPr lang="en-US" sz="2100">
              <a:solidFill>
                <a:srgbClr val="CB2419"/>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endParaRPr>
          </a:p>
          <a:p>
            <a:pPr algn="just">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用户访谈和竞品分析</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just">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需求定义和产品定位</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just">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基础架构搭建</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just">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用户管理和数据API集成</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just">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预计工作量：42人时</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3" name="TextBox 13"/>
          <p:cNvSpPr txBox="1"/>
          <p:nvPr/>
        </p:nvSpPr>
        <p:spPr>
          <a:xfrm>
            <a:off x="1237006" y="5939878"/>
            <a:ext cx="7671643" cy="2223134"/>
          </a:xfrm>
          <a:prstGeom prst="rect">
            <a:avLst/>
          </a:prstGeom>
        </p:spPr>
        <p:txBody>
          <a:bodyPr lIns="0" tIns="0" rIns="0" bIns="0" rtlCol="0" anchor="t">
            <a:spAutoFit/>
          </a:bodyPr>
          <a:lstStyle/>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第二阶段（2025年11月25日-2026年1月25日，2个月）</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目标：</a:t>
            </a:r>
            <a:r>
              <a:rPr lang="en-US" sz="2100">
                <a:solidFill>
                  <a:srgbClr val="CB2419"/>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产品设计和核心功能开发</a:t>
            </a:r>
            <a:endParaRPr lang="en-US" sz="2100">
              <a:solidFill>
                <a:srgbClr val="CB2419"/>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基于双钻模型完成产品设计（交互设计、视觉设计、原型制作）</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核心投资组合管理功能开发</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移动应用基础框架搭建</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预计工作量：105人时</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4" name="TextBox 14"/>
          <p:cNvSpPr txBox="1"/>
          <p:nvPr/>
        </p:nvSpPr>
        <p:spPr>
          <a:xfrm>
            <a:off x="10645080" y="2878508"/>
            <a:ext cx="6614220" cy="2223134"/>
          </a:xfrm>
          <a:prstGeom prst="rect">
            <a:avLst/>
          </a:prstGeom>
        </p:spPr>
        <p:txBody>
          <a:bodyPr lIns="0" tIns="0" rIns="0" bIns="0" rtlCol="0" anchor="t">
            <a:spAutoFit/>
          </a:bodyPr>
          <a:lstStyle/>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第三阶段（2026年1月25日-2026年3月25日，2个月）</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目标：</a:t>
            </a:r>
            <a:r>
              <a:rPr lang="en-US" sz="2100">
                <a:solidFill>
                  <a:srgbClr val="CB2419"/>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用户体验优化和高级功能实现</a:t>
            </a:r>
            <a:endParaRPr lang="en-US" sz="2100">
              <a:solidFill>
                <a:srgbClr val="CB2419"/>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运用成瘾模型优化用户体验</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实现量化回测和高级分析功能</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数据可视化功能开发</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预计工作量：105人时</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5" name="TextBox 15"/>
          <p:cNvSpPr txBox="1"/>
          <p:nvPr/>
        </p:nvSpPr>
        <p:spPr>
          <a:xfrm>
            <a:off x="10645080" y="5939878"/>
            <a:ext cx="6614220" cy="2223134"/>
          </a:xfrm>
          <a:prstGeom prst="rect">
            <a:avLst/>
          </a:prstGeom>
        </p:spPr>
        <p:txBody>
          <a:bodyPr lIns="0" tIns="0" rIns="0" bIns="0" rtlCol="0" anchor="t">
            <a:spAutoFit/>
          </a:bodyPr>
          <a:lstStyle/>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第四阶段（2026年3月25日-2026年4月25日，1个月）</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目标：</a:t>
            </a:r>
            <a:r>
              <a:rPr lang="en-US" sz="2100">
                <a:solidFill>
                  <a:srgbClr val="CB2419"/>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rPr>
              <a:t>性能优化和上线准备</a:t>
            </a:r>
            <a:endParaRPr lang="en-US" sz="2100">
              <a:solidFill>
                <a:srgbClr val="CB2419"/>
              </a:solidFill>
              <a:latin typeface="字由点字典黑 Bold" panose="00020600040101010101" charset="-122"/>
              <a:ea typeface="字由点字典黑 Bold" panose="00020600040101010101" charset="-122"/>
              <a:cs typeface="字由点字典黑 Bold" panose="00020600040101010101" charset="-122"/>
              <a:sym typeface="字由点字典黑 Bold"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性能优化和bug修复</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全面测试和文档完善</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 云服务部署和上线准备</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l">
              <a:lnSpc>
                <a:spcPts val="2940"/>
              </a:lnSpc>
              <a:spcBef>
                <a:spcPct val="0"/>
              </a:spcBef>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预计工作量：42人时</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6" name="TextBox 16"/>
          <p:cNvSpPr txBox="1"/>
          <p:nvPr/>
        </p:nvSpPr>
        <p:spPr>
          <a:xfrm>
            <a:off x="1947801" y="9094002"/>
            <a:ext cx="6479445" cy="348850"/>
          </a:xfrm>
          <a:prstGeom prst="rect">
            <a:avLst/>
          </a:prstGeom>
        </p:spPr>
        <p:txBody>
          <a:bodyPr lIns="0" tIns="0" rIns="0" bIns="0" rtlCol="0" anchor="t">
            <a:spAutoFit/>
          </a:bodyPr>
          <a:lstStyle/>
          <a:p>
            <a:pPr algn="ctr">
              <a:lnSpc>
                <a:spcPts val="2870"/>
              </a:lnSpc>
              <a:spcBef>
                <a:spcPct val="0"/>
              </a:spcBef>
            </a:pPr>
            <a:r>
              <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预计总工作量：294人时，适合作为毕业设计项目开展。</a:t>
            </a:r>
            <a:endParaRPr lang="en-US" sz="205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
        <p:nvSpPr>
          <p:cNvPr id="17" name="AutoShape 17"/>
          <p:cNvSpPr/>
          <p:nvPr/>
        </p:nvSpPr>
        <p:spPr>
          <a:xfrm flipH="1">
            <a:off x="4059678" y="4199625"/>
            <a:ext cx="1294228" cy="1556553"/>
          </a:xfrm>
          <a:prstGeom prst="line">
            <a:avLst/>
          </a:prstGeom>
          <a:ln w="38100" cap="flat">
            <a:solidFill>
              <a:srgbClr val="000000"/>
            </a:solidFill>
            <a:prstDash val="sysDot"/>
            <a:headEnd type="none" w="sm" len="sm"/>
            <a:tailEnd type="arrow" w="med" len="sm"/>
          </a:ln>
        </p:spPr>
      </p:sp>
      <p:sp>
        <p:nvSpPr>
          <p:cNvPr id="18" name="AutoShape 18"/>
          <p:cNvSpPr/>
          <p:nvPr/>
        </p:nvSpPr>
        <p:spPr>
          <a:xfrm flipV="1">
            <a:off x="8291010" y="4323302"/>
            <a:ext cx="2053557" cy="3186820"/>
          </a:xfrm>
          <a:prstGeom prst="line">
            <a:avLst/>
          </a:prstGeom>
          <a:ln w="38100" cap="flat">
            <a:solidFill>
              <a:srgbClr val="000000"/>
            </a:solidFill>
            <a:prstDash val="sysDot"/>
            <a:headEnd type="none" w="sm" len="sm"/>
            <a:tailEnd type="arrow" w="med" len="sm"/>
          </a:ln>
        </p:spPr>
      </p:sp>
      <p:sp>
        <p:nvSpPr>
          <p:cNvPr id="19" name="AutoShape 19"/>
          <p:cNvSpPr/>
          <p:nvPr/>
        </p:nvSpPr>
        <p:spPr>
          <a:xfrm flipH="1">
            <a:off x="13714295" y="4105900"/>
            <a:ext cx="998240" cy="1650277"/>
          </a:xfrm>
          <a:prstGeom prst="line">
            <a:avLst/>
          </a:prstGeom>
          <a:ln w="38100" cap="flat">
            <a:solidFill>
              <a:srgbClr val="000000"/>
            </a:solidFill>
            <a:prstDash val="sysDot"/>
            <a:headEnd type="none" w="sm" len="sm"/>
            <a:tailEnd type="arrow" w="med" len="sm"/>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076950" y="4383407"/>
            <a:ext cx="6134100" cy="1253485"/>
          </a:xfrm>
          <a:prstGeom prst="rect">
            <a:avLst/>
          </a:prstGeom>
        </p:spPr>
        <p:txBody>
          <a:bodyPr lIns="0" tIns="0" rIns="0" bIns="0" rtlCol="0" anchor="t">
            <a:spAutoFit/>
          </a:bodyPr>
          <a:lstStyle/>
          <a:p>
            <a:pPr algn="ctr">
              <a:lnSpc>
                <a:spcPts val="5250"/>
              </a:lnSpc>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感谢倾听！</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a:p>
            <a:pPr algn="ctr">
              <a:lnSpc>
                <a:spcPts val="5250"/>
              </a:lnSpc>
            </a:pP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恳请</a:t>
            </a:r>
            <a:r>
              <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rPr>
              <a:t>各位老师、前辈给予意见与建议、批评与指正！</a:t>
            </a:r>
            <a:endParaRPr lang="en-US" sz="2100">
              <a:solidFill>
                <a:srgbClr val="000000"/>
              </a:solidFill>
              <a:latin typeface="字由点字典黑" panose="00020600040101010101" charset="-122"/>
              <a:ea typeface="字由点字典黑" panose="00020600040101010101" charset="-122"/>
              <a:cs typeface="字由点字典黑" panose="00020600040101010101" charset="-122"/>
              <a:sym typeface="字由点字典黑" panose="00020600040101010101"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3692</Words>
  <Application>WPS 演示</Application>
  <PresentationFormat>On-screen Show (4:3)</PresentationFormat>
  <Paragraphs>232</Paragraphs>
  <Slides>18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Arial</vt:lpstr>
      <vt:lpstr>宋体</vt:lpstr>
      <vt:lpstr>Wingdings</vt:lpstr>
      <vt:lpstr>字由点字典黑 Bold</vt:lpstr>
      <vt:lpstr>字由点字典黑</vt:lpstr>
      <vt:lpstr>微软雅黑</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开题PPT</dc:title>
  <dc:creator/>
  <cp:lastModifiedBy>HarryMoMo</cp:lastModifiedBy>
  <cp:revision>2</cp:revision>
  <dcterms:created xsi:type="dcterms:W3CDTF">2006-08-16T00:00:00Z</dcterms:created>
  <dcterms:modified xsi:type="dcterms:W3CDTF">2025-11-25T08:41:50Z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{"Label":"1","ContentProducer":"001191110105MA01AN806X00000","ProduceID":"DAG5qdxhpPo","ReservedCode1":"","ContentPropagator":"001191110105MA01AN806X00000","PropagateID":"DAG5qdxhpPo","ReservedCode2":""}</vt:lpwstr>
  </property>
  <property fmtid="{D5CDD505-2E9C-101B-9397-08002B2CF9AE}" pid="3" name="ICV">
    <vt:lpwstr>CC09B2F52B0E4347BD37BF415697275D_12</vt:lpwstr>
  </property>
  <property fmtid="{D5CDD505-2E9C-101B-9397-08002B2CF9AE}" pid="4" name="KSOProductBuildVer">
    <vt:lpwstr>2052-12.1.0.21915</vt:lpwstr>
  </property>
</Properties>
</file>